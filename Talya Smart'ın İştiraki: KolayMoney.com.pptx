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2463" y="14288"/>
            <a:ext cx="857250" cy="857250"/>
          </a:xfrm>
          <a:prstGeom prst="rect">
            <a:avLst/>
          </a:prstGeom>
          <a:solidFill>
            <a:srgbClr val="0047FF"/>
          </a:solidFill>
          <a:ln/>
        </p:spPr>
      </p:sp>
      <p:sp>
        <p:nvSpPr>
          <p:cNvPr id="4" name="Shape 1"/>
          <p:cNvSpPr/>
          <p:nvPr/>
        </p:nvSpPr>
        <p:spPr>
          <a:xfrm>
            <a:off x="8272463" y="857250"/>
            <a:ext cx="8572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8272463" y="14288"/>
            <a:ext cx="14288" cy="857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8504941" y="209848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01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585788" y="785645"/>
            <a:ext cx="79724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333333"/>
                </a:solidFill>
              </a:rPr>
              <a:t>Talya Smart'ın İştiraki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585788" y="1162478"/>
            <a:ext cx="7972425" cy="1112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249" b="1" spc="-2" kern="0" dirty="0">
                <a:solidFill>
                  <a:srgbClr val="000000"/>
                </a:solidFill>
              </a:rPr>
              <a:t>Kolay</a:t>
            </a:r>
            <a:pPr algn="l" indent="0" marL="0">
              <a:lnSpc>
                <a:spcPts val="4400"/>
              </a:lnSpc>
              <a:buNone/>
            </a:pPr>
            <a:r>
              <a:rPr lang="en-US" sz="4249" b="1" spc="-2" kern="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4400"/>
              </a:lnSpc>
              <a:buNone/>
            </a:pPr>
            <a:r>
              <a:rPr lang="en-US" sz="4249" b="1" spc="-2" kern="0" dirty="0">
                <a:solidFill>
                  <a:srgbClr val="000000"/>
                </a:solidFill>
              </a:rPr>
              <a:t>Money</a:t>
            </a:r>
            <a:pPr algn="l" indent="0" marL="0">
              <a:lnSpc>
                <a:spcPts val="4400"/>
              </a:lnSpc>
              <a:buNone/>
            </a:pPr>
            <a:r>
              <a:rPr lang="en-US" sz="4249" b="1" spc="-2" kern="0" dirty="0">
                <a:solidFill>
                  <a:srgbClr val="0047FF"/>
                </a:solidFill>
              </a:rPr>
              <a:t>.com</a:t>
            </a:r>
            <a:endParaRPr lang="en-US" sz="4249" dirty="0"/>
          </a:p>
        </p:txBody>
      </p:sp>
      <p:sp>
        <p:nvSpPr>
          <p:cNvPr id="9" name="Shape 6"/>
          <p:cNvSpPr/>
          <p:nvPr/>
        </p:nvSpPr>
        <p:spPr>
          <a:xfrm>
            <a:off x="14288" y="3046809"/>
            <a:ext cx="9115425" cy="122515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14288" y="3046809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14288" y="42576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585788" y="3361134"/>
            <a:ext cx="2879545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5F5F5"/>
                </a:solidFill>
              </a:rPr>
              <a:t>OMG-CAP VDMK Yapıları ile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5F5F5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5F5F5"/>
                </a:solidFill>
              </a:rPr>
              <a:t>Alacak Bazlı Finansman</a:t>
            </a:r>
            <a:endParaRPr lang="en-US" sz="1602" dirty="0"/>
          </a:p>
        </p:txBody>
      </p:sp>
      <p:sp>
        <p:nvSpPr>
          <p:cNvPr id="13" name="Shape 10"/>
          <p:cNvSpPr/>
          <p:nvPr/>
        </p:nvSpPr>
        <p:spPr>
          <a:xfrm>
            <a:off x="14288" y="4271963"/>
            <a:ext cx="2562206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562206" y="4271963"/>
            <a:ext cx="14288" cy="857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228600" y="4526459"/>
            <a:ext cx="213358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>
                    <a:alpha val="60000"/>
                  </a:srgbClr>
                </a:solidFill>
              </a:rPr>
              <a:t>Platform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228600" y="4699695"/>
            <a:ext cx="21335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Talya Smart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2576494" y="4271963"/>
            <a:ext cx="2562234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124441" y="4271963"/>
            <a:ext cx="14288" cy="857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2790806" y="4526459"/>
            <a:ext cx="21336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>
                    <a:alpha val="60000"/>
                  </a:srgbClr>
                </a:solidFill>
              </a:rPr>
              <a:t>Yatırımcı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2790806" y="4699695"/>
            <a:ext cx="21336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Talya GSYF</a:t>
            </a:r>
            <a:endParaRPr lang="en-US" sz="885" dirty="0"/>
          </a:p>
        </p:txBody>
      </p:sp>
      <p:sp>
        <p:nvSpPr>
          <p:cNvPr id="21" name="Shape 18"/>
          <p:cNvSpPr/>
          <p:nvPr/>
        </p:nvSpPr>
        <p:spPr>
          <a:xfrm>
            <a:off x="5138728" y="4271963"/>
            <a:ext cx="2562206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686647" y="4271963"/>
            <a:ext cx="14288" cy="857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5353041" y="4526459"/>
            <a:ext cx="213358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>
                    <a:alpha val="60000"/>
                  </a:srgbClr>
                </a:solidFill>
              </a:rPr>
              <a:t>Yapılandırıcı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5353041" y="4699695"/>
            <a:ext cx="21335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OMG-CAP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7700935" y="4271963"/>
            <a:ext cx="1428778" cy="857250"/>
          </a:xfrm>
          <a:prstGeom prst="rect">
            <a:avLst/>
          </a:prstGeom>
          <a:solidFill>
            <a:srgbClr val="0047FF"/>
          </a:solidFill>
          <a:ln/>
        </p:spPr>
      </p:sp>
      <p:sp>
        <p:nvSpPr>
          <p:cNvPr id="26" name="Text 23"/>
          <p:cNvSpPr/>
          <p:nvPr/>
        </p:nvSpPr>
        <p:spPr>
          <a:xfrm>
            <a:off x="7915247" y="4526459"/>
            <a:ext cx="100015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>
                    <a:alpha val="42000"/>
                  </a:srgbClr>
                </a:solidFill>
              </a:rPr>
              <a:t>Tarih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7915247" y="4699695"/>
            <a:ext cx="10001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Şubat 2026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02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370559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Stratejik Ortaklık Önerisi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000125" y="1571625"/>
            <a:ext cx="2714625" cy="22860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8" y="1785938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53332" y="2271713"/>
            <a:ext cx="140818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OMG Capital</a:t>
            </a:r>
            <a:endParaRPr lang="en-US" sz="1397" dirty="0"/>
          </a:p>
        </p:txBody>
      </p:sp>
      <p:sp>
        <p:nvSpPr>
          <p:cNvPr id="10" name="Shape 6"/>
          <p:cNvSpPr/>
          <p:nvPr/>
        </p:nvSpPr>
        <p:spPr>
          <a:xfrm>
            <a:off x="1885197" y="2616398"/>
            <a:ext cx="944482" cy="22681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1885197" y="2616398"/>
            <a:ext cx="944482" cy="22681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Yapılandırıcı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1214438" y="2986088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VDMK ve finansal ürünlerin yasal yapılandırması, ihraç süreci ve SPK uyumluluğunun sağlanması.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3857625" y="2707481"/>
            <a:ext cx="14287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0"/>
          <p:cNvSpPr/>
          <p:nvPr/>
        </p:nvSpPr>
        <p:spPr>
          <a:xfrm>
            <a:off x="4032298" y="2421731"/>
            <a:ext cx="1079404" cy="264319"/>
          </a:xfrm>
          <a:prstGeom prst="roundRect">
            <a:avLst/>
          </a:prstGeom>
          <a:solidFill>
            <a:srgbClr val="E6F0FF"/>
          </a:solidFill>
          <a:ln w="9144">
            <a:solidFill>
              <a:srgbClr val="0047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032298" y="2421731"/>
            <a:ext cx="1079404" cy="264319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7FF"/>
                </a:solidFill>
              </a:rPr>
              <a:t>Stratejik İşbirliği</a:t>
            </a:r>
            <a:endParaRPr lang="en-US" sz="683" dirty="0"/>
          </a:p>
        </p:txBody>
      </p:sp>
      <p:sp>
        <p:nvSpPr>
          <p:cNvPr id="16" name="Shape 12"/>
          <p:cNvSpPr/>
          <p:nvPr/>
        </p:nvSpPr>
        <p:spPr>
          <a:xfrm>
            <a:off x="5429250" y="1571625"/>
            <a:ext cx="2714625" cy="22860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1785938"/>
            <a:ext cx="428625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67751" y="2271713"/>
            <a:ext cx="143759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KolayMoney</a:t>
            </a:r>
            <a:endParaRPr lang="en-US" sz="1397" dirty="0"/>
          </a:p>
        </p:txBody>
      </p:sp>
      <p:sp>
        <p:nvSpPr>
          <p:cNvPr id="19" name="Shape 14"/>
          <p:cNvSpPr/>
          <p:nvPr/>
        </p:nvSpPr>
        <p:spPr>
          <a:xfrm>
            <a:off x="6162880" y="2616398"/>
            <a:ext cx="1247366" cy="22681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5"/>
          <p:cNvSpPr/>
          <p:nvPr/>
        </p:nvSpPr>
        <p:spPr>
          <a:xfrm>
            <a:off x="6162880" y="2616398"/>
            <a:ext cx="1247366" cy="22681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Reseller / Dağıtıcı</a:t>
            </a:r>
            <a:endParaRPr lang="en-US" sz="834" dirty="0"/>
          </a:p>
        </p:txBody>
      </p:sp>
      <p:sp>
        <p:nvSpPr>
          <p:cNvPr id="21" name="Text 16"/>
          <p:cNvSpPr/>
          <p:nvPr/>
        </p:nvSpPr>
        <p:spPr>
          <a:xfrm>
            <a:off x="5643563" y="2986088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Talya Smart ekosistemi üzerinden ürünlerin geniş kitlelere dağıtımı ve yatırımcı erişimi.</a:t>
            </a:r>
            <a:endParaRPr lang="en-US" sz="834" dirty="0"/>
          </a:p>
        </p:txBody>
      </p:sp>
      <p:sp>
        <p:nvSpPr>
          <p:cNvPr id="22" name="Shape 17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Shape 18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8" y="4857750"/>
            <a:ext cx="142875" cy="1143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0069" y="4837212"/>
            <a:ext cx="29063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Finansal uzmanlık ile dijital dağıtım gücünün birleşimi.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03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4512534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OMG Capital Advisors Hakkında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4288" y="728663"/>
            <a:ext cx="4557713" cy="397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557713" y="728663"/>
            <a:ext cx="14288" cy="39719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371475" y="1913130"/>
            <a:ext cx="3843338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000000"/>
                </a:solidFill>
              </a:rPr>
              <a:t>İstanbul merkezli,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47FF"/>
                </a:solidFill>
              </a:rPr>
              <a:t>banka dışı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47FF"/>
                </a:solidFill>
              </a:rPr>
              <a:t>finansman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000000"/>
                </a:solidFill>
              </a:rPr>
              <a:t> çözümleri sunan lider 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000000"/>
                </a:solidFill>
              </a:rPr>
              <a:t>danışmanlık şirketi.</a:t>
            </a:r>
            <a:endParaRPr lang="en-US" sz="1486" dirty="0"/>
          </a:p>
        </p:txBody>
      </p:sp>
      <p:sp>
        <p:nvSpPr>
          <p:cNvPr id="10" name="Text 7"/>
          <p:cNvSpPr/>
          <p:nvPr/>
        </p:nvSpPr>
        <p:spPr>
          <a:xfrm>
            <a:off x="371475" y="2967530"/>
            <a:ext cx="3843338" cy="54859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Özellikle VDMK ve Özel Kredi alanında uzmanlaşarak, işletmelere ihtiyaca özel, yapılandırılmış finansman çözümleri sunuyor ve Türkiye'de kredi piyasalarının derinleşmesine katkıda bulunuyoruz.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4572000" y="728663"/>
            <a:ext cx="2278856" cy="19859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6836569" y="728663"/>
            <a:ext cx="14288" cy="19859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700338"/>
            <a:ext cx="2278856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4857750" y="1256407"/>
            <a:ext cx="17073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0000"/>
                </a:solidFill>
              </a:rPr>
              <a:t>2020</a:t>
            </a:r>
            <a:endParaRPr lang="en-US" sz="3294" dirty="0"/>
          </a:p>
        </p:txBody>
      </p:sp>
      <p:sp>
        <p:nvSpPr>
          <p:cNvPr id="15" name="Text 12"/>
          <p:cNvSpPr/>
          <p:nvPr/>
        </p:nvSpPr>
        <p:spPr>
          <a:xfrm>
            <a:off x="4857750" y="1785045"/>
            <a:ext cx="17073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FF"/>
                </a:solidFill>
              </a:rPr>
              <a:t>Kuruluş Yılı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857750" y="2051149"/>
            <a:ext cx="1707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İstanbul merkezli operasyon.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6850856" y="728663"/>
            <a:ext cx="2278856" cy="19859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0856" y="2700338"/>
            <a:ext cx="2278856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7136606" y="1256407"/>
            <a:ext cx="17073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0000"/>
                </a:solidFill>
              </a:rPr>
              <a:t>70+</a:t>
            </a:r>
            <a:endParaRPr lang="en-US" sz="3294" dirty="0"/>
          </a:p>
        </p:txBody>
      </p:sp>
      <p:sp>
        <p:nvSpPr>
          <p:cNvPr id="20" name="Text 17"/>
          <p:cNvSpPr/>
          <p:nvPr/>
        </p:nvSpPr>
        <p:spPr>
          <a:xfrm>
            <a:off x="7136606" y="1785045"/>
            <a:ext cx="17073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FF"/>
                </a:solidFill>
              </a:rPr>
              <a:t>İşlem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7136606" y="2051149"/>
            <a:ext cx="1707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Başarıyla tamamlanan finansman.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4572000" y="2714625"/>
            <a:ext cx="2278856" cy="19859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20"/>
          <p:cNvSpPr/>
          <p:nvPr/>
        </p:nvSpPr>
        <p:spPr>
          <a:xfrm>
            <a:off x="6836569" y="2714625"/>
            <a:ext cx="14288" cy="19859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4857750" y="3174504"/>
            <a:ext cx="17073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0000"/>
                </a:solidFill>
              </a:rPr>
              <a:t>6+</a:t>
            </a:r>
            <a:endParaRPr lang="en-US" sz="3294" dirty="0"/>
          </a:p>
        </p:txBody>
      </p:sp>
      <p:sp>
        <p:nvSpPr>
          <p:cNvPr id="25" name="Text 22"/>
          <p:cNvSpPr/>
          <p:nvPr/>
        </p:nvSpPr>
        <p:spPr>
          <a:xfrm>
            <a:off x="4857750" y="3703141"/>
            <a:ext cx="17073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FF"/>
                </a:solidFill>
              </a:rPr>
              <a:t>Sektör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4857750" y="3969246"/>
            <a:ext cx="170735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Tarım, Otomotiv, E-Ticaret, Sanayi, Lojistik, Gayrimenkul.</a:t>
            </a:r>
            <a:endParaRPr lang="en-US" sz="727" dirty="0"/>
          </a:p>
        </p:txBody>
      </p:sp>
      <p:sp>
        <p:nvSpPr>
          <p:cNvPr id="27" name="Shape 24"/>
          <p:cNvSpPr/>
          <p:nvPr/>
        </p:nvSpPr>
        <p:spPr>
          <a:xfrm>
            <a:off x="6850856" y="2714625"/>
            <a:ext cx="2278856" cy="1985963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606" y="3176290"/>
            <a:ext cx="5715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136606" y="3704927"/>
            <a:ext cx="17073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FF"/>
                </a:solidFill>
              </a:rPr>
              <a:t>Uçtan Uca</a:t>
            </a:r>
            <a:endParaRPr lang="en-US" sz="987" dirty="0"/>
          </a:p>
        </p:txBody>
      </p:sp>
      <p:sp>
        <p:nvSpPr>
          <p:cNvPr id="30" name="Text 26"/>
          <p:cNvSpPr/>
          <p:nvPr/>
        </p:nvSpPr>
        <p:spPr>
          <a:xfrm>
            <a:off x="7136606" y="3971032"/>
            <a:ext cx="170735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Yapılandırma, İhraç ve Dağıtım süreç yönetimi.</a:t>
            </a:r>
            <a:endParaRPr lang="en-US" sz="727" dirty="0"/>
          </a:p>
        </p:txBody>
      </p:sp>
      <p:sp>
        <p:nvSpPr>
          <p:cNvPr id="31" name="Shape 27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Shape 28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8" y="4857750"/>
            <a:ext cx="114300" cy="1143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21494" y="4837212"/>
            <a:ext cx="3675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Finansman piyasalarının derinleşmesine ve sürdürülebilirliğine katkı.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04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398668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Hizmetler ve Ürün Portföyü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4288" y="728663"/>
            <a:ext cx="9115425" cy="2971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4288" y="36861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14288" y="728663"/>
            <a:ext cx="2278856" cy="2971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2278856" y="728663"/>
            <a:ext cx="14288" cy="29718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14413"/>
            <a:ext cx="1850231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" y="1571625"/>
            <a:ext cx="18502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VDMK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(Varlığa Dayalı)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228600" y="2143125"/>
            <a:ext cx="18502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Alacak portföylerine dayalı, SPK onaylı menkul kıymet ihracı ve yapılandırması.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2293144" y="728663"/>
            <a:ext cx="2278856" cy="2971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4557713" y="728663"/>
            <a:ext cx="14288" cy="29718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456" y="1014413"/>
            <a:ext cx="1850231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07456" y="1571625"/>
            <a:ext cx="18502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Özel Kredi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(Private Credit)</a:t>
            </a:r>
            <a:endParaRPr lang="en-US" sz="1193" dirty="0"/>
          </a:p>
        </p:txBody>
      </p:sp>
      <p:sp>
        <p:nvSpPr>
          <p:cNvPr id="18" name="Text 13"/>
          <p:cNvSpPr/>
          <p:nvPr/>
        </p:nvSpPr>
        <p:spPr>
          <a:xfrm>
            <a:off x="2507456" y="2143125"/>
            <a:ext cx="18502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Banka dışı, ihtiyaca özel tasarlanmış esnek borçlanma ve finansman yapıları.</a:t>
            </a:r>
            <a:endParaRPr lang="en-US" sz="727" dirty="0"/>
          </a:p>
        </p:txBody>
      </p:sp>
      <p:sp>
        <p:nvSpPr>
          <p:cNvPr id="19" name="Shape 14"/>
          <p:cNvSpPr/>
          <p:nvPr/>
        </p:nvSpPr>
        <p:spPr>
          <a:xfrm>
            <a:off x="4572000" y="728663"/>
            <a:ext cx="2278856" cy="2971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836569" y="728663"/>
            <a:ext cx="14288" cy="29718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014413"/>
            <a:ext cx="1850231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86313" y="1571625"/>
            <a:ext cx="18502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Envanter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Finansmanı</a:t>
            </a:r>
            <a:endParaRPr lang="en-US" sz="1193" dirty="0"/>
          </a:p>
        </p:txBody>
      </p:sp>
      <p:sp>
        <p:nvSpPr>
          <p:cNvPr id="23" name="Text 17"/>
          <p:cNvSpPr/>
          <p:nvPr/>
        </p:nvSpPr>
        <p:spPr>
          <a:xfrm>
            <a:off x="4786313" y="2143125"/>
            <a:ext cx="18502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Stok ve emtia varlıklarına dayalı likidite ve işletme sermayesi çözümleri.</a:t>
            </a:r>
            <a:endParaRPr lang="en-US" sz="727" dirty="0"/>
          </a:p>
        </p:txBody>
      </p:sp>
      <p:sp>
        <p:nvSpPr>
          <p:cNvPr id="24" name="Shape 18"/>
          <p:cNvSpPr/>
          <p:nvPr/>
        </p:nvSpPr>
        <p:spPr>
          <a:xfrm>
            <a:off x="6850856" y="728663"/>
            <a:ext cx="2278856" cy="2971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169" y="1014413"/>
            <a:ext cx="1850231" cy="342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65169" y="1571625"/>
            <a:ext cx="18502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İslami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Finansman</a:t>
            </a:r>
            <a:endParaRPr lang="en-US" sz="1193" dirty="0"/>
          </a:p>
        </p:txBody>
      </p:sp>
      <p:sp>
        <p:nvSpPr>
          <p:cNvPr id="27" name="Text 20"/>
          <p:cNvSpPr/>
          <p:nvPr/>
        </p:nvSpPr>
        <p:spPr>
          <a:xfrm>
            <a:off x="7065169" y="2143125"/>
            <a:ext cx="18502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Faizsiz finans prensiplerine tam uyumlu, Sukuk benzeri katılım ürünleri.</a:t>
            </a:r>
            <a:endParaRPr lang="en-US" sz="727" dirty="0"/>
          </a:p>
        </p:txBody>
      </p:sp>
      <p:sp>
        <p:nvSpPr>
          <p:cNvPr id="28" name="Shape 21"/>
          <p:cNvSpPr/>
          <p:nvPr/>
        </p:nvSpPr>
        <p:spPr>
          <a:xfrm>
            <a:off x="300038" y="3700463"/>
            <a:ext cx="1428750" cy="10001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1714500" y="3700463"/>
            <a:ext cx="14288" cy="10001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Text 23"/>
          <p:cNvSpPr/>
          <p:nvPr/>
        </p:nvSpPr>
        <p:spPr>
          <a:xfrm>
            <a:off x="300038" y="3700463"/>
            <a:ext cx="14287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Temel Yaklaşım</a:t>
            </a:r>
            <a:endParaRPr lang="en-US" sz="784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538" y="4114800"/>
            <a:ext cx="214313" cy="1714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336006" y="4113014"/>
            <a:ext cx="1220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Risk-Getiri Dengesi</a:t>
            </a:r>
            <a:endParaRPr lang="en-US" sz="885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4134" y="4114800"/>
            <a:ext cx="128588" cy="17145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049878" y="4113014"/>
            <a:ext cx="11478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Düzenleyici Uyum</a:t>
            </a:r>
            <a:endParaRPr lang="en-US" sz="885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5368" y="4114800"/>
            <a:ext cx="171450" cy="17145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733974" y="4113014"/>
            <a:ext cx="11099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Şeffaf Raporlama</a:t>
            </a:r>
            <a:endParaRPr lang="en-US" sz="885" dirty="0"/>
          </a:p>
        </p:txBody>
      </p:sp>
      <p:sp>
        <p:nvSpPr>
          <p:cNvPr id="37" name="Shape 27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Shape 28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038" y="4857750"/>
            <a:ext cx="114300" cy="11430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21494" y="4837212"/>
            <a:ext cx="36196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Yatırımcı ve borçlanan beklentilerini dengeleyen uçtan uca yönetim.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03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348712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Piyasadaki Temel İhtiyaç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4288" y="728663"/>
            <a:ext cx="3646159" cy="39719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5"/>
          <p:cNvSpPr/>
          <p:nvPr/>
        </p:nvSpPr>
        <p:spPr>
          <a:xfrm>
            <a:off x="3646159" y="728663"/>
            <a:ext cx="14288" cy="39719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300038" y="1144814"/>
            <a:ext cx="30746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47FF"/>
                </a:solidFill>
              </a:rPr>
              <a:t>Mevcut Durum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300038" y="1423420"/>
            <a:ext cx="3074659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Yapısal Finansman</a:t>
            </a:r>
            <a:pPr algn="l" indent="0" marL="0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Boşluğu</a:t>
            </a:r>
            <a:endParaRPr lang="en-US" sz="2121" dirty="0"/>
          </a:p>
        </p:txBody>
      </p:sp>
      <p:sp>
        <p:nvSpPr>
          <p:cNvPr id="11" name="Text 8"/>
          <p:cNvSpPr/>
          <p:nvPr/>
        </p:nvSpPr>
        <p:spPr>
          <a:xfrm>
            <a:off x="457200" y="2369241"/>
            <a:ext cx="29174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F5F5"/>
                </a:solidFill>
              </a:rPr>
              <a:t>Bilanço Yükü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57200" y="2579982"/>
            <a:ext cx="291749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AAAAA"/>
                </a:solidFill>
              </a:rPr>
              <a:t>Şirketlerde biriken uzun vadeli ticari alacak stoku.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57200" y="2954303"/>
            <a:ext cx="29174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F5F5"/>
                </a:solidFill>
              </a:rPr>
              <a:t>Kredi Limitleri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57200" y="3165044"/>
            <a:ext cx="291749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AAAAA"/>
                </a:solidFill>
              </a:rPr>
              <a:t>Bankaların teminat odaklı ve sınırlı kredi iştahı.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57200" y="3539365"/>
            <a:ext cx="29174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F5F5"/>
                </a:solidFill>
              </a:rPr>
              <a:t>Likidite Sıkışıklığı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57200" y="3750106"/>
            <a:ext cx="291749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AAAAA"/>
                </a:solidFill>
              </a:rPr>
              <a:t>Büyüme potansiyelini frenleyen nakit akışı uyumsuzluğu.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3660446" y="728663"/>
            <a:ext cx="5469238" cy="39719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5"/>
          <p:cNvSpPr/>
          <p:nvPr/>
        </p:nvSpPr>
        <p:spPr>
          <a:xfrm>
            <a:off x="4089071" y="1103709"/>
            <a:ext cx="46119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0000"/>
                </a:solidFill>
              </a:rPr>
              <a:t>Yatırımcı Beklentisi &amp; Fırsat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4089071" y="1453753"/>
            <a:ext cx="4611988" cy="81438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67665" y="1646634"/>
            <a:ext cx="428625" cy="42862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253" y="1775222"/>
            <a:ext cx="171450" cy="1714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874884" y="1677888"/>
            <a:ext cx="364758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Teminatlı Ürün</a:t>
            </a:r>
            <a:endParaRPr lang="en-US" sz="987" dirty="0"/>
          </a:p>
        </p:txBody>
      </p:sp>
      <p:sp>
        <p:nvSpPr>
          <p:cNvPr id="23" name="Text 19"/>
          <p:cNvSpPr/>
          <p:nvPr/>
        </p:nvSpPr>
        <p:spPr>
          <a:xfrm>
            <a:off x="4874884" y="1908274"/>
            <a:ext cx="36475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Kurumsal yatırımcı için güvenli liman arayışı.</a:t>
            </a:r>
            <a:endParaRPr lang="en-US" sz="727" dirty="0"/>
          </a:p>
        </p:txBody>
      </p:sp>
      <p:sp>
        <p:nvSpPr>
          <p:cNvPr id="24" name="Shape 20"/>
          <p:cNvSpPr/>
          <p:nvPr/>
        </p:nvSpPr>
        <p:spPr>
          <a:xfrm>
            <a:off x="4089071" y="2468166"/>
            <a:ext cx="4611988" cy="81438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267665" y="2661047"/>
            <a:ext cx="428625" cy="42862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253" y="2789634"/>
            <a:ext cx="171450" cy="17145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874884" y="2692301"/>
            <a:ext cx="364758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Veri Destekli</a:t>
            </a:r>
            <a:endParaRPr lang="en-US" sz="987" dirty="0"/>
          </a:p>
        </p:txBody>
      </p:sp>
      <p:sp>
        <p:nvSpPr>
          <p:cNvPr id="28" name="Text 23"/>
          <p:cNvSpPr/>
          <p:nvPr/>
        </p:nvSpPr>
        <p:spPr>
          <a:xfrm>
            <a:off x="4874884" y="2922687"/>
            <a:ext cx="36475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Sadece kredi notu değil, tahsilat verisine dayalı analiz.</a:t>
            </a:r>
            <a:endParaRPr lang="en-US" sz="727" dirty="0"/>
          </a:p>
        </p:txBody>
      </p:sp>
      <p:sp>
        <p:nvSpPr>
          <p:cNvPr id="29" name="Shape 24"/>
          <p:cNvSpPr/>
          <p:nvPr/>
        </p:nvSpPr>
        <p:spPr>
          <a:xfrm>
            <a:off x="4089071" y="3482578"/>
            <a:ext cx="4611988" cy="81438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267665" y="3675459"/>
            <a:ext cx="4286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6"/>
          <p:cNvSpPr/>
          <p:nvPr/>
        </p:nvSpPr>
        <p:spPr>
          <a:xfrm>
            <a:off x="4874884" y="3706713"/>
            <a:ext cx="364758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VDMK Köprüsü</a:t>
            </a:r>
            <a:endParaRPr lang="en-US" sz="987" dirty="0"/>
          </a:p>
        </p:txBody>
      </p:sp>
      <p:sp>
        <p:nvSpPr>
          <p:cNvPr id="32" name="Text 27"/>
          <p:cNvSpPr/>
          <p:nvPr/>
        </p:nvSpPr>
        <p:spPr>
          <a:xfrm>
            <a:off x="4874884" y="3937099"/>
            <a:ext cx="36475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Reel sektör alacaklarını sermaye piyasasına bağlayan yapı.</a:t>
            </a:r>
            <a:endParaRPr lang="en-US" sz="727" dirty="0"/>
          </a:p>
        </p:txBody>
      </p:sp>
      <p:sp>
        <p:nvSpPr>
          <p:cNvPr id="33" name="Shape 28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Shape 29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8" y="4857750"/>
            <a:ext cx="114300" cy="1143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21494" y="4837212"/>
            <a:ext cx="40994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Türkiye'de alacak finansmanı piyasası büyük bir yapısal boşluğa işaret ediyor.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04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2994096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OMG-CAP VDMK Nedir?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185738" y="900113"/>
            <a:ext cx="642937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000000"/>
                </a:solidFill>
              </a:rPr>
              <a:t>VDMK, alacak portföylerini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bilançodan bağımsız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000000"/>
                </a:solidFill>
              </a:rPr>
              <a:t>, fon bazlı bir yapı 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000000"/>
                </a:solidFill>
              </a:rPr>
              <a:t>ile likit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yatırım ürününe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000000"/>
                </a:solidFill>
              </a:rPr>
              <a:t> dönüştürür.</a:t>
            </a:r>
            <a:endParaRPr lang="en-US" sz="1486" dirty="0"/>
          </a:p>
        </p:txBody>
      </p:sp>
      <p:sp>
        <p:nvSpPr>
          <p:cNvPr id="8" name="Text 5"/>
          <p:cNvSpPr/>
          <p:nvPr/>
        </p:nvSpPr>
        <p:spPr>
          <a:xfrm>
            <a:off x="128588" y="2079892"/>
            <a:ext cx="28003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555555"/>
                </a:solidFill>
              </a:rPr>
              <a:t>Girdi (Input)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128588" y="2301348"/>
            <a:ext cx="2800350" cy="72509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2549593"/>
            <a:ext cx="17145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925" y="2429935"/>
            <a:ext cx="1018431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Ticari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Alacaklar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128588" y="3097876"/>
            <a:ext cx="28003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Faturalar, Senetler, Vadeli Satışlar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2957513" y="2580317"/>
            <a:ext cx="171450" cy="1714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448" y="2623179"/>
            <a:ext cx="53578" cy="8572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057525" y="1645909"/>
            <a:ext cx="3043238" cy="2040266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6" name="Shape 11"/>
          <p:cNvSpPr/>
          <p:nvPr/>
        </p:nvSpPr>
        <p:spPr>
          <a:xfrm>
            <a:off x="6086475" y="1645909"/>
            <a:ext cx="14288" cy="204026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2"/>
          <p:cNvSpPr/>
          <p:nvPr/>
        </p:nvSpPr>
        <p:spPr>
          <a:xfrm>
            <a:off x="3176597" y="2079892"/>
            <a:ext cx="28051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555555"/>
                </a:solidFill>
              </a:rPr>
              <a:t>Mekanizma (Process)</a:t>
            </a:r>
            <a:endParaRPr lang="en-US" sz="727" dirty="0"/>
          </a:p>
        </p:txBody>
      </p:sp>
      <p:sp>
        <p:nvSpPr>
          <p:cNvPr id="18" name="Shape 13"/>
          <p:cNvSpPr/>
          <p:nvPr/>
        </p:nvSpPr>
        <p:spPr>
          <a:xfrm>
            <a:off x="3176597" y="2301348"/>
            <a:ext cx="2805122" cy="725091"/>
          </a:xfrm>
          <a:prstGeom prst="rect">
            <a:avLst/>
          </a:prstGeom>
          <a:solidFill>
            <a:srgbClr val="0047FF"/>
          </a:solidFill>
          <a:ln w="18288">
            <a:solidFill>
              <a:srgbClr val="0047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897" y="2549593"/>
            <a:ext cx="28575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705234" y="2429935"/>
            <a:ext cx="1705766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Varlık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Finansmanı Fonu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3176597" y="3097876"/>
            <a:ext cx="280512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VFF (SPK Onaylı Fon Yapısı)</a:t>
            </a:r>
            <a:endParaRPr lang="en-US" sz="727" dirty="0"/>
          </a:p>
        </p:txBody>
      </p:sp>
      <p:sp>
        <p:nvSpPr>
          <p:cNvPr id="22" name="Shape 16"/>
          <p:cNvSpPr/>
          <p:nvPr/>
        </p:nvSpPr>
        <p:spPr>
          <a:xfrm>
            <a:off x="6010294" y="2580317"/>
            <a:ext cx="171450" cy="1714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230" y="2623179"/>
            <a:ext cx="53578" cy="857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10319" y="2079892"/>
            <a:ext cx="28051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555555"/>
                </a:solidFill>
              </a:rPr>
              <a:t>Çıktı (Output)</a:t>
            </a:r>
            <a:endParaRPr lang="en-US" sz="727" dirty="0"/>
          </a:p>
        </p:txBody>
      </p:sp>
      <p:sp>
        <p:nvSpPr>
          <p:cNvPr id="25" name="Shape 18"/>
          <p:cNvSpPr/>
          <p:nvPr/>
        </p:nvSpPr>
        <p:spPr>
          <a:xfrm>
            <a:off x="6210319" y="2301348"/>
            <a:ext cx="2805122" cy="72509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19" y="2549593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81806" y="2429935"/>
            <a:ext cx="1562946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VDMK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(Menkul Kıymet)</a:t>
            </a:r>
            <a:endParaRPr lang="en-US" sz="1193" dirty="0"/>
          </a:p>
        </p:txBody>
      </p:sp>
      <p:sp>
        <p:nvSpPr>
          <p:cNvPr id="28" name="Text 20"/>
          <p:cNvSpPr/>
          <p:nvPr/>
        </p:nvSpPr>
        <p:spPr>
          <a:xfrm>
            <a:off x="6210319" y="3097876"/>
            <a:ext cx="280512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ISIN Kodlu, Nitelikli Yatırımcı Ürünü</a:t>
            </a:r>
            <a:endParaRPr lang="en-US" sz="727" dirty="0"/>
          </a:p>
        </p:txBody>
      </p:sp>
      <p:sp>
        <p:nvSpPr>
          <p:cNvPr id="29" name="Text 21"/>
          <p:cNvSpPr/>
          <p:nvPr/>
        </p:nvSpPr>
        <p:spPr>
          <a:xfrm>
            <a:off x="157163" y="3927109"/>
            <a:ext cx="27384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7FF"/>
                </a:solidFill>
              </a:rPr>
              <a:t>Bilançodan Bağımsız</a:t>
            </a:r>
            <a:endParaRPr lang="en-US" sz="784" dirty="0"/>
          </a:p>
        </p:txBody>
      </p:sp>
      <p:sp>
        <p:nvSpPr>
          <p:cNvPr id="30" name="Text 22"/>
          <p:cNvSpPr/>
          <p:nvPr/>
        </p:nvSpPr>
        <p:spPr>
          <a:xfrm>
            <a:off x="157163" y="4139636"/>
            <a:ext cx="273842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Kaynak kuruluşun kredi riskinden izole edilmiş yapı.</a:t>
            </a:r>
            <a:endParaRPr lang="en-US" sz="885" dirty="0"/>
          </a:p>
        </p:txBody>
      </p:sp>
      <p:sp>
        <p:nvSpPr>
          <p:cNvPr id="31" name="Text 23"/>
          <p:cNvSpPr/>
          <p:nvPr/>
        </p:nvSpPr>
        <p:spPr>
          <a:xfrm>
            <a:off x="3195628" y="3927109"/>
            <a:ext cx="27384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7FF"/>
                </a:solidFill>
              </a:rPr>
              <a:t>Dayanak Varlık</a:t>
            </a:r>
            <a:endParaRPr lang="en-US" sz="784" dirty="0"/>
          </a:p>
        </p:txBody>
      </p:sp>
      <p:sp>
        <p:nvSpPr>
          <p:cNvPr id="32" name="Text 24"/>
          <p:cNvSpPr/>
          <p:nvPr/>
        </p:nvSpPr>
        <p:spPr>
          <a:xfrm>
            <a:off x="3195628" y="4139636"/>
            <a:ext cx="273842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Nakit akışı doğrudan varlık tahsilatlarından beslenir.</a:t>
            </a:r>
            <a:endParaRPr lang="en-US" sz="885" dirty="0"/>
          </a:p>
        </p:txBody>
      </p:sp>
      <p:sp>
        <p:nvSpPr>
          <p:cNvPr id="33" name="Text 25"/>
          <p:cNvSpPr/>
          <p:nvPr/>
        </p:nvSpPr>
        <p:spPr>
          <a:xfrm>
            <a:off x="6234094" y="3927109"/>
            <a:ext cx="27527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7FF"/>
                </a:solidFill>
              </a:rPr>
              <a:t>Kurumsal Odak</a:t>
            </a:r>
            <a:endParaRPr lang="en-US" sz="784" dirty="0"/>
          </a:p>
        </p:txBody>
      </p:sp>
      <p:sp>
        <p:nvSpPr>
          <p:cNvPr id="34" name="Text 26"/>
          <p:cNvSpPr/>
          <p:nvPr/>
        </p:nvSpPr>
        <p:spPr>
          <a:xfrm>
            <a:off x="6234094" y="4139636"/>
            <a:ext cx="2752744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Şeffaf raporlama ile kurumsal yatırımcıya uygun tasarım.</a:t>
            </a:r>
            <a:endParaRPr lang="en-US" sz="885" dirty="0"/>
          </a:p>
        </p:txBody>
      </p:sp>
      <p:sp>
        <p:nvSpPr>
          <p:cNvPr id="35" name="Shape 27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Shape 28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038" y="4857750"/>
            <a:ext cx="114300" cy="1143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21494" y="4837212"/>
            <a:ext cx="23188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VDMK, alacağı yatırım ürününe dönüştürür.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05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40631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Alacak Kaynağı: Talya Smart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4288" y="728663"/>
            <a:ext cx="2278856" cy="39719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2278856" y="728663"/>
            <a:ext cx="14288" cy="39719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1757976" y="871538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01</a:t>
            </a:r>
            <a:endParaRPr lang="en-US" sz="2436" dirty="0"/>
          </a:p>
        </p:txBody>
      </p:sp>
      <p:sp>
        <p:nvSpPr>
          <p:cNvPr id="10" name="Shape 7"/>
          <p:cNvSpPr/>
          <p:nvPr/>
        </p:nvSpPr>
        <p:spPr>
          <a:xfrm>
            <a:off x="228600" y="1014413"/>
            <a:ext cx="428625" cy="428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72" y="1100138"/>
            <a:ext cx="192881" cy="2571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" y="1657350"/>
            <a:ext cx="1850231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Alacak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Üretimi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228600" y="2177393"/>
            <a:ext cx="18502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Vadeli satış yapan şirketlerden nitelikli alacak portföyü oluşturulması.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228600" y="2640285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15" name="Text 11"/>
          <p:cNvSpPr/>
          <p:nvPr/>
        </p:nvSpPr>
        <p:spPr>
          <a:xfrm>
            <a:off x="335756" y="2640285"/>
            <a:ext cx="6648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Faturalı satışlar</a:t>
            </a:r>
            <a:endParaRPr lang="en-US" sz="674" dirty="0"/>
          </a:p>
        </p:txBody>
      </p:sp>
      <p:sp>
        <p:nvSpPr>
          <p:cNvPr id="16" name="Text 12"/>
          <p:cNvSpPr/>
          <p:nvPr/>
        </p:nvSpPr>
        <p:spPr>
          <a:xfrm>
            <a:off x="228600" y="2838524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17" name="Text 13"/>
          <p:cNvSpPr/>
          <p:nvPr/>
        </p:nvSpPr>
        <p:spPr>
          <a:xfrm>
            <a:off x="335756" y="2838524"/>
            <a:ext cx="82970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Senet/Çek teminatı</a:t>
            </a:r>
            <a:endParaRPr lang="en-US" sz="674" dirty="0"/>
          </a:p>
        </p:txBody>
      </p:sp>
      <p:sp>
        <p:nvSpPr>
          <p:cNvPr id="18" name="Text 14"/>
          <p:cNvSpPr/>
          <p:nvPr/>
        </p:nvSpPr>
        <p:spPr>
          <a:xfrm>
            <a:off x="228600" y="3036763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19" name="Text 15"/>
          <p:cNvSpPr/>
          <p:nvPr/>
        </p:nvSpPr>
        <p:spPr>
          <a:xfrm>
            <a:off x="335756" y="3036763"/>
            <a:ext cx="72403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Sektörel çeşitlilik</a:t>
            </a:r>
            <a:endParaRPr lang="en-US" sz="674" dirty="0"/>
          </a:p>
        </p:txBody>
      </p:sp>
      <p:sp>
        <p:nvSpPr>
          <p:cNvPr id="20" name="Shape 16"/>
          <p:cNvSpPr/>
          <p:nvPr/>
        </p:nvSpPr>
        <p:spPr>
          <a:xfrm>
            <a:off x="2293144" y="728663"/>
            <a:ext cx="2278856" cy="397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4557713" y="728663"/>
            <a:ext cx="14288" cy="39719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8"/>
          <p:cNvSpPr/>
          <p:nvPr/>
        </p:nvSpPr>
        <p:spPr>
          <a:xfrm>
            <a:off x="4036833" y="871538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F0FF"/>
                </a:solidFill>
              </a:rPr>
              <a:t>02</a:t>
            </a:r>
            <a:endParaRPr lang="en-US" sz="2436" dirty="0"/>
          </a:p>
        </p:txBody>
      </p:sp>
      <p:sp>
        <p:nvSpPr>
          <p:cNvPr id="23" name="Shape 19"/>
          <p:cNvSpPr/>
          <p:nvPr/>
        </p:nvSpPr>
        <p:spPr>
          <a:xfrm>
            <a:off x="2507456" y="1014413"/>
            <a:ext cx="428625" cy="428625"/>
          </a:xfrm>
          <a:prstGeom prst="rect">
            <a:avLst/>
          </a:prstGeom>
          <a:solidFill>
            <a:srgbClr val="0047FF"/>
          </a:solidFill>
          <a:ln w="18288">
            <a:solidFill>
              <a:srgbClr val="0047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181" y="1100138"/>
            <a:ext cx="257175" cy="25717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507456" y="1657350"/>
            <a:ext cx="1850231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Veri &amp;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Skorlama</a:t>
            </a:r>
            <a:endParaRPr lang="en-US" sz="1193" dirty="0"/>
          </a:p>
        </p:txBody>
      </p:sp>
      <p:sp>
        <p:nvSpPr>
          <p:cNvPr id="26" name="Text 21"/>
          <p:cNvSpPr/>
          <p:nvPr/>
        </p:nvSpPr>
        <p:spPr>
          <a:xfrm>
            <a:off x="2507456" y="2177393"/>
            <a:ext cx="18502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Yapay zeka destekli veri doğrulama ve dinamik kredi skorlama.</a:t>
            </a:r>
            <a:endParaRPr lang="en-US" sz="727" dirty="0"/>
          </a:p>
        </p:txBody>
      </p:sp>
      <p:sp>
        <p:nvSpPr>
          <p:cNvPr id="27" name="Text 22"/>
          <p:cNvSpPr/>
          <p:nvPr/>
        </p:nvSpPr>
        <p:spPr>
          <a:xfrm>
            <a:off x="2507456" y="2640285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28" name="Text 23"/>
          <p:cNvSpPr/>
          <p:nvPr/>
        </p:nvSpPr>
        <p:spPr>
          <a:xfrm>
            <a:off x="2614613" y="2640285"/>
            <a:ext cx="8580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Borçlu profili analizi</a:t>
            </a:r>
            <a:endParaRPr lang="en-US" sz="674" dirty="0"/>
          </a:p>
        </p:txBody>
      </p:sp>
      <p:sp>
        <p:nvSpPr>
          <p:cNvPr id="29" name="Text 24"/>
          <p:cNvSpPr/>
          <p:nvPr/>
        </p:nvSpPr>
        <p:spPr>
          <a:xfrm>
            <a:off x="2507456" y="2838524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30" name="Text 25"/>
          <p:cNvSpPr/>
          <p:nvPr/>
        </p:nvSpPr>
        <p:spPr>
          <a:xfrm>
            <a:off x="2614613" y="2838524"/>
            <a:ext cx="9331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Ödeme geçmişi verisi</a:t>
            </a:r>
            <a:endParaRPr lang="en-US" sz="674" dirty="0"/>
          </a:p>
        </p:txBody>
      </p:sp>
      <p:sp>
        <p:nvSpPr>
          <p:cNvPr id="31" name="Text 26"/>
          <p:cNvSpPr/>
          <p:nvPr/>
        </p:nvSpPr>
        <p:spPr>
          <a:xfrm>
            <a:off x="2507456" y="3036763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32" name="Text 27"/>
          <p:cNvSpPr/>
          <p:nvPr/>
        </p:nvSpPr>
        <p:spPr>
          <a:xfrm>
            <a:off x="2614613" y="3036763"/>
            <a:ext cx="7195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ML algoritmaları</a:t>
            </a:r>
            <a:endParaRPr lang="en-US" sz="674" dirty="0"/>
          </a:p>
        </p:txBody>
      </p:sp>
      <p:sp>
        <p:nvSpPr>
          <p:cNvPr id="33" name="Shape 28"/>
          <p:cNvSpPr/>
          <p:nvPr/>
        </p:nvSpPr>
        <p:spPr>
          <a:xfrm>
            <a:off x="4572000" y="728663"/>
            <a:ext cx="2278856" cy="39719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4" name="Shape 29"/>
          <p:cNvSpPr/>
          <p:nvPr/>
        </p:nvSpPr>
        <p:spPr>
          <a:xfrm>
            <a:off x="6836569" y="728663"/>
            <a:ext cx="14288" cy="39719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0"/>
          <p:cNvSpPr/>
          <p:nvPr/>
        </p:nvSpPr>
        <p:spPr>
          <a:xfrm>
            <a:off x="6315689" y="871538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03</a:t>
            </a:r>
            <a:endParaRPr lang="en-US" sz="2436" dirty="0"/>
          </a:p>
        </p:txBody>
      </p:sp>
      <p:sp>
        <p:nvSpPr>
          <p:cNvPr id="36" name="Shape 31"/>
          <p:cNvSpPr/>
          <p:nvPr/>
        </p:nvSpPr>
        <p:spPr>
          <a:xfrm>
            <a:off x="4786313" y="1014413"/>
            <a:ext cx="428625" cy="428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891" y="1100138"/>
            <a:ext cx="321469" cy="257175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786313" y="1657350"/>
            <a:ext cx="1850231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Servicing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(Tahsilat)</a:t>
            </a:r>
            <a:endParaRPr lang="en-US" sz="1193" dirty="0"/>
          </a:p>
        </p:txBody>
      </p:sp>
      <p:sp>
        <p:nvSpPr>
          <p:cNvPr id="39" name="Text 33"/>
          <p:cNvSpPr/>
          <p:nvPr/>
        </p:nvSpPr>
        <p:spPr>
          <a:xfrm>
            <a:off x="4786313" y="2177393"/>
            <a:ext cx="18502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Alacakların günlük idaresi ve nakit akışı yönetimi.</a:t>
            </a:r>
            <a:endParaRPr lang="en-US" sz="727" dirty="0"/>
          </a:p>
        </p:txBody>
      </p:sp>
      <p:sp>
        <p:nvSpPr>
          <p:cNvPr id="40" name="Text 34"/>
          <p:cNvSpPr/>
          <p:nvPr/>
        </p:nvSpPr>
        <p:spPr>
          <a:xfrm>
            <a:off x="4786313" y="2640285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41" name="Text 35"/>
          <p:cNvSpPr/>
          <p:nvPr/>
        </p:nvSpPr>
        <p:spPr>
          <a:xfrm>
            <a:off x="4893469" y="2640285"/>
            <a:ext cx="92293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Günlük tahsilat takibi</a:t>
            </a:r>
            <a:endParaRPr lang="en-US" sz="674" dirty="0"/>
          </a:p>
        </p:txBody>
      </p:sp>
      <p:sp>
        <p:nvSpPr>
          <p:cNvPr id="42" name="Text 36"/>
          <p:cNvSpPr/>
          <p:nvPr/>
        </p:nvSpPr>
        <p:spPr>
          <a:xfrm>
            <a:off x="4786313" y="2838524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43" name="Text 37"/>
          <p:cNvSpPr/>
          <p:nvPr/>
        </p:nvSpPr>
        <p:spPr>
          <a:xfrm>
            <a:off x="4893469" y="2838524"/>
            <a:ext cx="88579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Yasal süreç yönetimi</a:t>
            </a:r>
            <a:endParaRPr lang="en-US" sz="674" dirty="0"/>
          </a:p>
        </p:txBody>
      </p:sp>
      <p:sp>
        <p:nvSpPr>
          <p:cNvPr id="44" name="Text 38"/>
          <p:cNvSpPr/>
          <p:nvPr/>
        </p:nvSpPr>
        <p:spPr>
          <a:xfrm>
            <a:off x="4786313" y="3036763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45" name="Text 39"/>
          <p:cNvSpPr/>
          <p:nvPr/>
        </p:nvSpPr>
        <p:spPr>
          <a:xfrm>
            <a:off x="4893469" y="3036763"/>
            <a:ext cx="94347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Fon hesabına aktarım</a:t>
            </a:r>
            <a:endParaRPr lang="en-US" sz="674" dirty="0"/>
          </a:p>
        </p:txBody>
      </p:sp>
      <p:sp>
        <p:nvSpPr>
          <p:cNvPr id="46" name="Shape 40"/>
          <p:cNvSpPr/>
          <p:nvPr/>
        </p:nvSpPr>
        <p:spPr>
          <a:xfrm>
            <a:off x="6850856" y="728663"/>
            <a:ext cx="2278856" cy="39719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7" name="Text 41"/>
          <p:cNvSpPr/>
          <p:nvPr/>
        </p:nvSpPr>
        <p:spPr>
          <a:xfrm>
            <a:off x="8594545" y="871538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04</a:t>
            </a:r>
            <a:endParaRPr lang="en-US" sz="2436" dirty="0"/>
          </a:p>
        </p:txBody>
      </p:sp>
      <p:sp>
        <p:nvSpPr>
          <p:cNvPr id="48" name="Shape 42"/>
          <p:cNvSpPr/>
          <p:nvPr/>
        </p:nvSpPr>
        <p:spPr>
          <a:xfrm>
            <a:off x="7065169" y="1014413"/>
            <a:ext cx="428625" cy="428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820" y="1100138"/>
            <a:ext cx="289322" cy="257175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7065169" y="1657350"/>
            <a:ext cx="1850231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İzleme &amp;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Raporlama</a:t>
            </a:r>
            <a:endParaRPr lang="en-US" sz="1193" dirty="0"/>
          </a:p>
        </p:txBody>
      </p:sp>
      <p:sp>
        <p:nvSpPr>
          <p:cNvPr id="51" name="Text 44"/>
          <p:cNvSpPr/>
          <p:nvPr/>
        </p:nvSpPr>
        <p:spPr>
          <a:xfrm>
            <a:off x="7065169" y="2177393"/>
            <a:ext cx="18502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Yatırımcı için şeffaf performans takibi ve erken uyarı.</a:t>
            </a:r>
            <a:endParaRPr lang="en-US" sz="727" dirty="0"/>
          </a:p>
        </p:txBody>
      </p:sp>
      <p:sp>
        <p:nvSpPr>
          <p:cNvPr id="52" name="Text 45"/>
          <p:cNvSpPr/>
          <p:nvPr/>
        </p:nvSpPr>
        <p:spPr>
          <a:xfrm>
            <a:off x="7065169" y="2640285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53" name="Text 46"/>
          <p:cNvSpPr/>
          <p:nvPr/>
        </p:nvSpPr>
        <p:spPr>
          <a:xfrm>
            <a:off x="7172325" y="2640285"/>
            <a:ext cx="10653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Aylık performans raporu</a:t>
            </a:r>
            <a:endParaRPr lang="en-US" sz="674" dirty="0"/>
          </a:p>
        </p:txBody>
      </p:sp>
      <p:sp>
        <p:nvSpPr>
          <p:cNvPr id="54" name="Text 47"/>
          <p:cNvSpPr/>
          <p:nvPr/>
        </p:nvSpPr>
        <p:spPr>
          <a:xfrm>
            <a:off x="7065169" y="2838524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55" name="Text 48"/>
          <p:cNvSpPr/>
          <p:nvPr/>
        </p:nvSpPr>
        <p:spPr>
          <a:xfrm>
            <a:off x="7172325" y="2838524"/>
            <a:ext cx="793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Gecikme analizleri</a:t>
            </a:r>
            <a:endParaRPr lang="en-US" sz="674" dirty="0"/>
          </a:p>
        </p:txBody>
      </p:sp>
      <p:sp>
        <p:nvSpPr>
          <p:cNvPr id="56" name="Text 49"/>
          <p:cNvSpPr/>
          <p:nvPr/>
        </p:nvSpPr>
        <p:spPr>
          <a:xfrm>
            <a:off x="7065169" y="3036763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47FF"/>
                </a:solidFill>
              </a:rPr>
              <a:t>&gt;</a:t>
            </a:r>
            <a:endParaRPr lang="en-US" sz="634" dirty="0"/>
          </a:p>
        </p:txBody>
      </p:sp>
      <p:sp>
        <p:nvSpPr>
          <p:cNvPr id="57" name="Text 50"/>
          <p:cNvSpPr/>
          <p:nvPr/>
        </p:nvSpPr>
        <p:spPr>
          <a:xfrm>
            <a:off x="7172325" y="3036763"/>
            <a:ext cx="103467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Nakit akışı projeksiyonu</a:t>
            </a:r>
            <a:endParaRPr lang="en-US" sz="674" dirty="0"/>
          </a:p>
        </p:txBody>
      </p:sp>
      <p:sp>
        <p:nvSpPr>
          <p:cNvPr id="58" name="Shape 51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9" name="Shape 52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38" y="4858643"/>
            <a:ext cx="114300" cy="114300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485775" y="4837212"/>
            <a:ext cx="19330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Veri Kalitesi ve Tahsilat Performansı</a:t>
            </a:r>
            <a:endParaRPr lang="en-US" sz="834" dirty="0"/>
          </a:p>
        </p:txBody>
      </p:sp>
      <p:sp>
        <p:nvSpPr>
          <p:cNvPr id="62" name="Text 54"/>
          <p:cNvSpPr/>
          <p:nvPr/>
        </p:nvSpPr>
        <p:spPr>
          <a:xfrm>
            <a:off x="5374946" y="4837212"/>
            <a:ext cx="34690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/>
                </a:solidFill>
              </a:rPr>
              <a:t>Türkiye'nin alacak bazlı veri &amp; servis platformu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06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440024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Yatırımcı Güvencesi: Talya GSYF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4288" y="728663"/>
            <a:ext cx="9115425" cy="171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4288" y="24288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14288" y="728663"/>
            <a:ext cx="1714500" cy="1714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1714500" y="728663"/>
            <a:ext cx="14288" cy="1714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02" y="1228725"/>
            <a:ext cx="803672" cy="7143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57413" y="1084957"/>
            <a:ext cx="65436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</a:rPr>
              <a:t>Anchor Investor</a:t>
            </a:r>
            <a:endParaRPr lang="en-US" sz="2436" dirty="0"/>
          </a:p>
        </p:txBody>
      </p:sp>
      <p:sp>
        <p:nvSpPr>
          <p:cNvPr id="13" name="Text 9"/>
          <p:cNvSpPr/>
          <p:nvPr/>
        </p:nvSpPr>
        <p:spPr>
          <a:xfrm>
            <a:off x="2157413" y="1658243"/>
            <a:ext cx="571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Talya GSYF, yapının ilk yatırımcısı olarak risk tutar ve diğer kurumsal yatırımcılar için güçlü bir güven sinyali oluşturur.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4288" y="2443163"/>
            <a:ext cx="3038466" cy="2257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3038466" y="2443163"/>
            <a:ext cx="14288" cy="22574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2"/>
          <p:cNvSpPr/>
          <p:nvPr/>
        </p:nvSpPr>
        <p:spPr>
          <a:xfrm>
            <a:off x="300038" y="2748558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FF"/>
                </a:solidFill>
              </a:rPr>
              <a:t>01</a:t>
            </a:r>
            <a:endParaRPr lang="en-US" sz="885" dirty="0"/>
          </a:p>
        </p:txBody>
      </p:sp>
      <p:sp>
        <p:nvSpPr>
          <p:cNvPr id="17" name="Text 13"/>
          <p:cNvSpPr/>
          <p:nvPr/>
        </p:nvSpPr>
        <p:spPr>
          <a:xfrm>
            <a:off x="554310" y="2728913"/>
            <a:ext cx="9690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Risk Tutma</a:t>
            </a:r>
            <a:endParaRPr lang="en-US" sz="1090" dirty="0"/>
          </a:p>
        </p:txBody>
      </p:sp>
      <p:sp>
        <p:nvSpPr>
          <p:cNvPr id="18" name="Text 14"/>
          <p:cNvSpPr/>
          <p:nvPr/>
        </p:nvSpPr>
        <p:spPr>
          <a:xfrm>
            <a:off x="300038" y="3243263"/>
            <a:ext cx="246696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İhracın belirli bir oranını (örneğin %5) kendi portföyünde tutarak kaynak kuruluş ile yatırımcı arasında çıkar uyumu (alignment of interest) sağlar.</a:t>
            </a:r>
            <a:endParaRPr lang="en-US" sz="834" dirty="0"/>
          </a:p>
        </p:txBody>
      </p:sp>
      <p:sp>
        <p:nvSpPr>
          <p:cNvPr id="19" name="Shape 15"/>
          <p:cNvSpPr/>
          <p:nvPr/>
        </p:nvSpPr>
        <p:spPr>
          <a:xfrm>
            <a:off x="3052753" y="2443163"/>
            <a:ext cx="3038466" cy="2257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6076931" y="2443163"/>
            <a:ext cx="14288" cy="22574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7"/>
          <p:cNvSpPr/>
          <p:nvPr/>
        </p:nvSpPr>
        <p:spPr>
          <a:xfrm>
            <a:off x="3338503" y="2748558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FF"/>
                </a:solidFill>
              </a:rPr>
              <a:t>02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3592776" y="2728913"/>
            <a:ext cx="10952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Yapı Dengesi</a:t>
            </a:r>
            <a:endParaRPr lang="en-US" sz="1090" dirty="0"/>
          </a:p>
        </p:txBody>
      </p:sp>
      <p:sp>
        <p:nvSpPr>
          <p:cNvPr id="23" name="Text 19"/>
          <p:cNvSpPr/>
          <p:nvPr/>
        </p:nvSpPr>
        <p:spPr>
          <a:xfrm>
            <a:off x="3338503" y="3243263"/>
            <a:ext cx="246696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Kısa vadeli getiri baskısı altında olmayan uzun vadeli sermaye perspektifi ile yapının sürdürülebilirliğini ve finansal dengesini korur.</a:t>
            </a:r>
            <a:endParaRPr lang="en-US" sz="834" dirty="0"/>
          </a:p>
        </p:txBody>
      </p:sp>
      <p:sp>
        <p:nvSpPr>
          <p:cNvPr id="24" name="Shape 20"/>
          <p:cNvSpPr/>
          <p:nvPr/>
        </p:nvSpPr>
        <p:spPr>
          <a:xfrm>
            <a:off x="6091219" y="2443163"/>
            <a:ext cx="3038494" cy="2257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6376969" y="2748558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FF"/>
                </a:solidFill>
              </a:rPr>
              <a:t>03</a:t>
            </a:r>
            <a:endParaRPr lang="en-US" sz="885" dirty="0"/>
          </a:p>
        </p:txBody>
      </p:sp>
      <p:sp>
        <p:nvSpPr>
          <p:cNvPr id="26" name="Text 22"/>
          <p:cNvSpPr/>
          <p:nvPr/>
        </p:nvSpPr>
        <p:spPr>
          <a:xfrm>
            <a:off x="6631242" y="2728913"/>
            <a:ext cx="8996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Yönetişim</a:t>
            </a:r>
            <a:endParaRPr lang="en-US" sz="1090" dirty="0"/>
          </a:p>
        </p:txBody>
      </p:sp>
      <p:sp>
        <p:nvSpPr>
          <p:cNvPr id="27" name="Text 23"/>
          <p:cNvSpPr/>
          <p:nvPr/>
        </p:nvSpPr>
        <p:spPr>
          <a:xfrm>
            <a:off x="6376969" y="3243263"/>
            <a:ext cx="246699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Kurumsal disiplin getirir. Düzenli portföy izleme, risk komitesi toplantıları ve şeffaf raporlama süreçlerini denetler.</a:t>
            </a:r>
            <a:endParaRPr lang="en-US" sz="834" dirty="0"/>
          </a:p>
        </p:txBody>
      </p:sp>
      <p:sp>
        <p:nvSpPr>
          <p:cNvPr id="28" name="Shape 24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Shape 25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8" y="4857750"/>
            <a:ext cx="114300" cy="1143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1494" y="4837212"/>
            <a:ext cx="24023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Yapılandırılmış finansmanda anchor investor.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07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3485536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Nakit Akışı Mekanizması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4288" y="728663"/>
            <a:ext cx="9115425" cy="3000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4288" y="3714750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14288" y="728663"/>
            <a:ext cx="227885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2278856" y="728663"/>
            <a:ext cx="14288" cy="30003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757976" y="871538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47FF">
                    <a:alpha val="20000"/>
                  </a:srgbClr>
                </a:solidFill>
              </a:rPr>
              <a:t>01</a:t>
            </a:r>
            <a:endParaRPr lang="en-US" sz="2436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14413"/>
            <a:ext cx="1850231" cy="2571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" y="1414463"/>
            <a:ext cx="1850231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Alacak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Devri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228600" y="1898786"/>
            <a:ext cx="1850231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Kaynak kuruluş, seçilmiş alacak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portföyünü Varlık Finansmanı Fonu'na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(VFF) devreder.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• İnançlı Mülkiyet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• Bilanço Dışı</a:t>
            </a:r>
            <a:endParaRPr lang="en-US" sz="727" dirty="0"/>
          </a:p>
        </p:txBody>
      </p:sp>
      <p:sp>
        <p:nvSpPr>
          <p:cNvPr id="15" name="Shape 11"/>
          <p:cNvSpPr/>
          <p:nvPr/>
        </p:nvSpPr>
        <p:spPr>
          <a:xfrm>
            <a:off x="2207419" y="2228850"/>
            <a:ext cx="171450" cy="17145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355" y="2271713"/>
            <a:ext cx="53578" cy="8572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293144" y="728663"/>
            <a:ext cx="227885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4557713" y="728663"/>
            <a:ext cx="14288" cy="30003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4"/>
          <p:cNvSpPr/>
          <p:nvPr/>
        </p:nvSpPr>
        <p:spPr>
          <a:xfrm>
            <a:off x="4036833" y="871538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47FF">
                    <a:alpha val="20000"/>
                  </a:srgbClr>
                </a:solidFill>
              </a:rPr>
              <a:t>02</a:t>
            </a:r>
            <a:endParaRPr lang="en-US" sz="2436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456" y="1014413"/>
            <a:ext cx="1850231" cy="2571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507456" y="1414463"/>
            <a:ext cx="1850231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İhraç &amp;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Satış</a:t>
            </a:r>
            <a:endParaRPr lang="en-US" sz="1193" dirty="0"/>
          </a:p>
        </p:txBody>
      </p:sp>
      <p:sp>
        <p:nvSpPr>
          <p:cNvPr id="22" name="Text 16"/>
          <p:cNvSpPr/>
          <p:nvPr/>
        </p:nvSpPr>
        <p:spPr>
          <a:xfrm>
            <a:off x="2507456" y="1898786"/>
            <a:ext cx="1850231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Fon, alacaklar karşılığında VDMK ihraç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eder ve nitelikli yatırımcılara satar.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• İskontolu Satış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• ISIN Kodu</a:t>
            </a:r>
            <a:endParaRPr lang="en-US" sz="727" dirty="0"/>
          </a:p>
        </p:txBody>
      </p:sp>
      <p:sp>
        <p:nvSpPr>
          <p:cNvPr id="23" name="Shape 17"/>
          <p:cNvSpPr/>
          <p:nvPr/>
        </p:nvSpPr>
        <p:spPr>
          <a:xfrm>
            <a:off x="4486275" y="2228850"/>
            <a:ext cx="171450" cy="17145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211" y="2271713"/>
            <a:ext cx="53578" cy="8572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572000" y="728663"/>
            <a:ext cx="227885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9"/>
          <p:cNvSpPr/>
          <p:nvPr/>
        </p:nvSpPr>
        <p:spPr>
          <a:xfrm>
            <a:off x="6836569" y="728663"/>
            <a:ext cx="14288" cy="30003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0"/>
          <p:cNvSpPr/>
          <p:nvPr/>
        </p:nvSpPr>
        <p:spPr>
          <a:xfrm>
            <a:off x="6315689" y="871538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47FF">
                    <a:alpha val="20000"/>
                  </a:srgbClr>
                </a:solidFill>
              </a:rPr>
              <a:t>03</a:t>
            </a:r>
            <a:endParaRPr lang="en-US" sz="2436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014413"/>
            <a:ext cx="1850231" cy="25717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86313" y="1414463"/>
            <a:ext cx="1850231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Tahsilat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Süreci</a:t>
            </a:r>
            <a:endParaRPr lang="en-US" sz="1193" dirty="0"/>
          </a:p>
        </p:txBody>
      </p:sp>
      <p:sp>
        <p:nvSpPr>
          <p:cNvPr id="30" name="Text 22"/>
          <p:cNvSpPr/>
          <p:nvPr/>
        </p:nvSpPr>
        <p:spPr>
          <a:xfrm>
            <a:off x="4786313" y="1898786"/>
            <a:ext cx="1850231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Servicer (Hizmet Sağlayıcı)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borçlulardan ödemeleri toplar ve fona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aktarır.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• Günlük Takip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• Yasal Süreçler</a:t>
            </a:r>
            <a:endParaRPr lang="en-US" sz="727" dirty="0"/>
          </a:p>
        </p:txBody>
      </p:sp>
      <p:sp>
        <p:nvSpPr>
          <p:cNvPr id="31" name="Shape 23"/>
          <p:cNvSpPr/>
          <p:nvPr/>
        </p:nvSpPr>
        <p:spPr>
          <a:xfrm>
            <a:off x="6765131" y="2228850"/>
            <a:ext cx="171450" cy="17145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4067" y="2271713"/>
            <a:ext cx="53578" cy="85725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850856" y="728663"/>
            <a:ext cx="227885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25"/>
          <p:cNvSpPr/>
          <p:nvPr/>
        </p:nvSpPr>
        <p:spPr>
          <a:xfrm>
            <a:off x="8594545" y="871538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47FF">
                    <a:alpha val="20000"/>
                  </a:srgbClr>
                </a:solidFill>
              </a:rPr>
              <a:t>04</a:t>
            </a:r>
            <a:endParaRPr lang="en-US" sz="2436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5169" y="1014413"/>
            <a:ext cx="1850231" cy="25717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065169" y="1414463"/>
            <a:ext cx="1850231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Nakit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Dağıtımı</a:t>
            </a:r>
            <a:endParaRPr lang="en-US" sz="1193" dirty="0"/>
          </a:p>
        </p:txBody>
      </p:sp>
      <p:sp>
        <p:nvSpPr>
          <p:cNvPr id="37" name="Text 27"/>
          <p:cNvSpPr/>
          <p:nvPr/>
        </p:nvSpPr>
        <p:spPr>
          <a:xfrm>
            <a:off x="7065169" y="1898786"/>
            <a:ext cx="1850231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Fon, önceden tanımlı kurallara göre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yatırımcıya ödeme yapar.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• Kupon + Anapara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• Waterfall Yapısı</a:t>
            </a:r>
            <a:endParaRPr lang="en-US" sz="727" dirty="0"/>
          </a:p>
        </p:txBody>
      </p:sp>
      <p:sp>
        <p:nvSpPr>
          <p:cNvPr id="38" name="Shape 28"/>
          <p:cNvSpPr/>
          <p:nvPr/>
        </p:nvSpPr>
        <p:spPr>
          <a:xfrm>
            <a:off x="14288" y="3729038"/>
            <a:ext cx="4557713" cy="9715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9" name="Shape 29"/>
          <p:cNvSpPr/>
          <p:nvPr/>
        </p:nvSpPr>
        <p:spPr>
          <a:xfrm>
            <a:off x="4557713" y="3729038"/>
            <a:ext cx="14288" cy="9715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038" y="4100513"/>
            <a:ext cx="228600" cy="22860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07231" y="4041577"/>
            <a:ext cx="33440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Şeffaf Raporlama</a:t>
            </a:r>
            <a:endParaRPr lang="en-US" sz="885" dirty="0"/>
          </a:p>
        </p:txBody>
      </p:sp>
      <p:sp>
        <p:nvSpPr>
          <p:cNvPr id="42" name="Text 31"/>
          <p:cNvSpPr/>
          <p:nvPr/>
        </p:nvSpPr>
        <p:spPr>
          <a:xfrm>
            <a:off x="707231" y="4252317"/>
            <a:ext cx="33440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Aylık bazda tahsilat performansı, portföy kalitesi ve nakit akışı raporları.</a:t>
            </a:r>
            <a:endParaRPr lang="en-US" sz="727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4100513"/>
            <a:ext cx="285750" cy="22860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322094" y="4041577"/>
            <a:ext cx="33541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Veri Bazlı İzleme</a:t>
            </a:r>
            <a:endParaRPr lang="en-US" sz="885" dirty="0"/>
          </a:p>
        </p:txBody>
      </p:sp>
      <p:sp>
        <p:nvSpPr>
          <p:cNvPr id="45" name="Text 33"/>
          <p:cNvSpPr/>
          <p:nvPr/>
        </p:nvSpPr>
        <p:spPr>
          <a:xfrm>
            <a:off x="5322094" y="4252317"/>
            <a:ext cx="33541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Talya Smart ile gerçek zamanlı performans takibi ve erken uyarı sistemi.</a:t>
            </a:r>
            <a:endParaRPr lang="en-US" sz="727" dirty="0"/>
          </a:p>
        </p:txBody>
      </p:sp>
      <p:sp>
        <p:nvSpPr>
          <p:cNvPr id="46" name="Shape 34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7" name="Shape 35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038" y="4857750"/>
            <a:ext cx="114300" cy="11430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521494" y="4837212"/>
            <a:ext cx="37735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Önceden tanımlı nakit akışı kuralları, öngörülebilirlik ve şeffaflık sağlar.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08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350225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Risk Yönetimi ve Koruma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4288" y="728663"/>
            <a:ext cx="3038466" cy="19859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3038466" y="728663"/>
            <a:ext cx="14288" cy="19859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14288" y="2700338"/>
            <a:ext cx="3038466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942975"/>
            <a:ext cx="318567" cy="27503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FF"/>
                </a:solidFill>
              </a:rPr>
              <a:t>01</a:t>
            </a:r>
            <a:endParaRPr lang="en-US" sz="885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266" y="942975"/>
            <a:ext cx="257175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" y="1360884"/>
            <a:ext cx="2609841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Alacak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Çeşitlendirmesi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228600" y="1935956"/>
            <a:ext cx="26098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Portföyde tek bir borçluya veya sektöre aşırı konsantrasyon önlenir.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228600" y="2269927"/>
            <a:ext cx="2609841" cy="23038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47FF"/>
                </a:solidFill>
              </a:rPr>
              <a:t>Tek Borçlu Limiti &lt; %5</a:t>
            </a:r>
            <a:endParaRPr lang="en-US" sz="584" dirty="0"/>
          </a:p>
        </p:txBody>
      </p:sp>
      <p:sp>
        <p:nvSpPr>
          <p:cNvPr id="15" name="Shape 11"/>
          <p:cNvSpPr/>
          <p:nvPr/>
        </p:nvSpPr>
        <p:spPr>
          <a:xfrm>
            <a:off x="3052753" y="728663"/>
            <a:ext cx="3038466" cy="19859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2"/>
          <p:cNvSpPr/>
          <p:nvPr/>
        </p:nvSpPr>
        <p:spPr>
          <a:xfrm>
            <a:off x="6076931" y="728663"/>
            <a:ext cx="14288" cy="19859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3"/>
          <p:cNvSpPr/>
          <p:nvPr/>
        </p:nvSpPr>
        <p:spPr>
          <a:xfrm>
            <a:off x="3052753" y="2700338"/>
            <a:ext cx="3038466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4"/>
          <p:cNvSpPr/>
          <p:nvPr/>
        </p:nvSpPr>
        <p:spPr>
          <a:xfrm>
            <a:off x="3267066" y="942975"/>
            <a:ext cx="318567" cy="27503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FF"/>
                </a:solidFill>
              </a:rPr>
              <a:t>02</a:t>
            </a:r>
            <a:endParaRPr lang="en-US" sz="885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881" y="942975"/>
            <a:ext cx="200025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67066" y="1360884"/>
            <a:ext cx="2609841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Veri Destekli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Kredi Skoru</a:t>
            </a:r>
            <a:endParaRPr lang="en-US" sz="1193" dirty="0"/>
          </a:p>
        </p:txBody>
      </p:sp>
      <p:sp>
        <p:nvSpPr>
          <p:cNvPr id="21" name="Text 16"/>
          <p:cNvSpPr/>
          <p:nvPr/>
        </p:nvSpPr>
        <p:spPr>
          <a:xfrm>
            <a:off x="3267066" y="1935956"/>
            <a:ext cx="26098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Talya Smart platformu ile borçlu profili ve ödeme geçmişi analizi.</a:t>
            </a:r>
            <a:endParaRPr lang="en-US" sz="727" dirty="0"/>
          </a:p>
        </p:txBody>
      </p:sp>
      <p:sp>
        <p:nvSpPr>
          <p:cNvPr id="22" name="Text 17"/>
          <p:cNvSpPr/>
          <p:nvPr/>
        </p:nvSpPr>
        <p:spPr>
          <a:xfrm>
            <a:off x="3267066" y="2269927"/>
            <a:ext cx="2609841" cy="23038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47FF"/>
                </a:solidFill>
              </a:rPr>
              <a:t>AI Tabanlı Skorlama</a:t>
            </a:r>
            <a:endParaRPr lang="en-US" sz="584" dirty="0"/>
          </a:p>
        </p:txBody>
      </p:sp>
      <p:sp>
        <p:nvSpPr>
          <p:cNvPr id="23" name="Shape 18"/>
          <p:cNvSpPr/>
          <p:nvPr/>
        </p:nvSpPr>
        <p:spPr>
          <a:xfrm>
            <a:off x="6091219" y="728663"/>
            <a:ext cx="3038494" cy="19859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19"/>
          <p:cNvSpPr/>
          <p:nvPr/>
        </p:nvSpPr>
        <p:spPr>
          <a:xfrm>
            <a:off x="6091219" y="2700338"/>
            <a:ext cx="3038494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0"/>
          <p:cNvSpPr/>
          <p:nvPr/>
        </p:nvSpPr>
        <p:spPr>
          <a:xfrm>
            <a:off x="6305531" y="942975"/>
            <a:ext cx="318567" cy="27503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FF"/>
                </a:solidFill>
              </a:rPr>
              <a:t>03</a:t>
            </a:r>
            <a:endParaRPr lang="en-US" sz="885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942975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05531" y="1360884"/>
            <a:ext cx="2609869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Rezerv &amp;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İskonto Yapısı</a:t>
            </a:r>
            <a:endParaRPr lang="en-US" sz="1193" dirty="0"/>
          </a:p>
        </p:txBody>
      </p:sp>
      <p:sp>
        <p:nvSpPr>
          <p:cNvPr id="28" name="Text 22"/>
          <p:cNvSpPr/>
          <p:nvPr/>
        </p:nvSpPr>
        <p:spPr>
          <a:xfrm>
            <a:off x="6305531" y="1935956"/>
            <a:ext cx="26098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İhraç iskontosu ve fon içi nakit rezervleri ile kayıp tamponu.</a:t>
            </a:r>
            <a:endParaRPr lang="en-US" sz="727" dirty="0"/>
          </a:p>
        </p:txBody>
      </p:sp>
      <p:sp>
        <p:nvSpPr>
          <p:cNvPr id="29" name="Text 23"/>
          <p:cNvSpPr/>
          <p:nvPr/>
        </p:nvSpPr>
        <p:spPr>
          <a:xfrm>
            <a:off x="6305531" y="2269927"/>
            <a:ext cx="2609869" cy="23038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47FF"/>
                </a:solidFill>
              </a:rPr>
              <a:t>%8 İskonto Tamponu</a:t>
            </a:r>
            <a:endParaRPr lang="en-US" sz="584" dirty="0"/>
          </a:p>
        </p:txBody>
      </p:sp>
      <p:sp>
        <p:nvSpPr>
          <p:cNvPr id="30" name="Shape 24"/>
          <p:cNvSpPr/>
          <p:nvPr/>
        </p:nvSpPr>
        <p:spPr>
          <a:xfrm>
            <a:off x="14288" y="2714625"/>
            <a:ext cx="3038466" cy="19859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5"/>
          <p:cNvSpPr/>
          <p:nvPr/>
        </p:nvSpPr>
        <p:spPr>
          <a:xfrm>
            <a:off x="3038466" y="2714625"/>
            <a:ext cx="14288" cy="19859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26"/>
          <p:cNvSpPr/>
          <p:nvPr/>
        </p:nvSpPr>
        <p:spPr>
          <a:xfrm>
            <a:off x="228600" y="2928938"/>
            <a:ext cx="318567" cy="27503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FF"/>
                </a:solidFill>
              </a:rPr>
              <a:t>04</a:t>
            </a:r>
            <a:endParaRPr lang="en-US" sz="885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6991" y="2928938"/>
            <a:ext cx="171450" cy="2286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28600" y="3346847"/>
            <a:ext cx="2609841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Teminat &amp;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Garanti</a:t>
            </a:r>
            <a:endParaRPr lang="en-US" sz="1193" dirty="0"/>
          </a:p>
        </p:txBody>
      </p:sp>
      <p:sp>
        <p:nvSpPr>
          <p:cNvPr id="35" name="Text 28"/>
          <p:cNvSpPr/>
          <p:nvPr/>
        </p:nvSpPr>
        <p:spPr>
          <a:xfrm>
            <a:off x="228600" y="3921919"/>
            <a:ext cx="26098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Senet, garanti mektubu ve aşırı teminatlandırma mekanizmaları.</a:t>
            </a:r>
            <a:endParaRPr lang="en-US" sz="727" dirty="0"/>
          </a:p>
        </p:txBody>
      </p:sp>
      <p:sp>
        <p:nvSpPr>
          <p:cNvPr id="36" name="Text 29"/>
          <p:cNvSpPr/>
          <p:nvPr/>
        </p:nvSpPr>
        <p:spPr>
          <a:xfrm>
            <a:off x="228600" y="4255889"/>
            <a:ext cx="2609841" cy="23038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47FF"/>
                </a:solidFill>
              </a:rPr>
              <a:t>Ek Teminat Desteği</a:t>
            </a:r>
            <a:endParaRPr lang="en-US" sz="584" dirty="0"/>
          </a:p>
        </p:txBody>
      </p:sp>
      <p:sp>
        <p:nvSpPr>
          <p:cNvPr id="37" name="Shape 30"/>
          <p:cNvSpPr/>
          <p:nvPr/>
        </p:nvSpPr>
        <p:spPr>
          <a:xfrm>
            <a:off x="3052753" y="2714625"/>
            <a:ext cx="3038466" cy="19859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8" name="Shape 31"/>
          <p:cNvSpPr/>
          <p:nvPr/>
        </p:nvSpPr>
        <p:spPr>
          <a:xfrm>
            <a:off x="6076931" y="2714625"/>
            <a:ext cx="14288" cy="19859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2"/>
          <p:cNvSpPr/>
          <p:nvPr/>
        </p:nvSpPr>
        <p:spPr>
          <a:xfrm>
            <a:off x="3267066" y="2928938"/>
            <a:ext cx="318567" cy="27503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FF"/>
                </a:solidFill>
              </a:rPr>
              <a:t>05</a:t>
            </a:r>
            <a:endParaRPr lang="en-US" sz="885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31" y="2928938"/>
            <a:ext cx="257175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267066" y="3346847"/>
            <a:ext cx="2609841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Performans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İzleme</a:t>
            </a:r>
            <a:endParaRPr lang="en-US" sz="1193" dirty="0"/>
          </a:p>
        </p:txBody>
      </p:sp>
      <p:sp>
        <p:nvSpPr>
          <p:cNvPr id="42" name="Text 34"/>
          <p:cNvSpPr/>
          <p:nvPr/>
        </p:nvSpPr>
        <p:spPr>
          <a:xfrm>
            <a:off x="3267066" y="3921919"/>
            <a:ext cx="26098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Gerçek zamanlı tahsilat takibi ve erken uyarı sistemleri.</a:t>
            </a:r>
            <a:endParaRPr lang="en-US" sz="727" dirty="0"/>
          </a:p>
        </p:txBody>
      </p:sp>
      <p:sp>
        <p:nvSpPr>
          <p:cNvPr id="43" name="Text 35"/>
          <p:cNvSpPr/>
          <p:nvPr/>
        </p:nvSpPr>
        <p:spPr>
          <a:xfrm>
            <a:off x="3267066" y="4255889"/>
            <a:ext cx="2609841" cy="23038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47FF"/>
                </a:solidFill>
              </a:rPr>
              <a:t>Otomatik Sinyaller</a:t>
            </a:r>
            <a:endParaRPr lang="en-US" sz="584" dirty="0"/>
          </a:p>
        </p:txBody>
      </p:sp>
      <p:sp>
        <p:nvSpPr>
          <p:cNvPr id="44" name="Shape 36"/>
          <p:cNvSpPr/>
          <p:nvPr/>
        </p:nvSpPr>
        <p:spPr>
          <a:xfrm>
            <a:off x="6091219" y="2714625"/>
            <a:ext cx="3038494" cy="19859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5" name="Text 37"/>
          <p:cNvSpPr/>
          <p:nvPr/>
        </p:nvSpPr>
        <p:spPr>
          <a:xfrm>
            <a:off x="6305531" y="2928938"/>
            <a:ext cx="318567" cy="27503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FF"/>
                </a:solidFill>
              </a:rPr>
              <a:t>06</a:t>
            </a:r>
            <a:endParaRPr lang="en-US" sz="885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9650" y="2928938"/>
            <a:ext cx="285750" cy="2286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6305531" y="3346847"/>
            <a:ext cx="2609869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SPK Uyumlu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Çerçeve</a:t>
            </a:r>
            <a:endParaRPr lang="en-US" sz="1193" dirty="0"/>
          </a:p>
        </p:txBody>
      </p:sp>
      <p:sp>
        <p:nvSpPr>
          <p:cNvPr id="48" name="Text 39"/>
          <p:cNvSpPr/>
          <p:nvPr/>
        </p:nvSpPr>
        <p:spPr>
          <a:xfrm>
            <a:off x="6305531" y="3921919"/>
            <a:ext cx="26098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Mevzuata tam uyum, bağımsız denetim ve şeffaf raporlama.</a:t>
            </a:r>
            <a:endParaRPr lang="en-US" sz="727" dirty="0"/>
          </a:p>
        </p:txBody>
      </p:sp>
      <p:sp>
        <p:nvSpPr>
          <p:cNvPr id="49" name="Text 40"/>
          <p:cNvSpPr/>
          <p:nvPr/>
        </p:nvSpPr>
        <p:spPr>
          <a:xfrm>
            <a:off x="6305531" y="4255889"/>
            <a:ext cx="2609869" cy="23038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47FF"/>
                </a:solidFill>
              </a:rPr>
              <a:t>Düzenleyici Standartlar</a:t>
            </a:r>
            <a:endParaRPr lang="en-US" sz="584" dirty="0"/>
          </a:p>
        </p:txBody>
      </p:sp>
      <p:sp>
        <p:nvSpPr>
          <p:cNvPr id="50" name="Shape 41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1" name="Shape 42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038" y="4857750"/>
            <a:ext cx="114300" cy="11430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21494" y="4837212"/>
            <a:ext cx="34643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Çok katmanlı risk yönetimi, yatırımcı korumasını maksimize eder.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11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395613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Hedef Pazarlar ve Sektörler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4288" y="728663"/>
            <a:ext cx="4564856" cy="397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564856" y="728663"/>
            <a:ext cx="14288" cy="397192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8" y="965299"/>
            <a:ext cx="2857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2944" y="942975"/>
            <a:ext cx="118636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B2C Pazarı</a:t>
            </a:r>
            <a:endParaRPr lang="en-US" sz="1397" dirty="0"/>
          </a:p>
        </p:txBody>
      </p:sp>
      <p:sp>
        <p:nvSpPr>
          <p:cNvPr id="11" name="Text 7"/>
          <p:cNvSpPr/>
          <p:nvPr/>
        </p:nvSpPr>
        <p:spPr>
          <a:xfrm>
            <a:off x="3323713" y="1011734"/>
            <a:ext cx="962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Taksit / POS / Senet</a:t>
            </a:r>
            <a:endParaRPr lang="en-US" sz="683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8" y="1610023"/>
            <a:ext cx="142875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4350" y="1582341"/>
            <a:ext cx="12527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Mobilya &amp; Dekorasyon</a:t>
            </a:r>
            <a:endParaRPr lang="en-US" sz="784" dirty="0"/>
          </a:p>
        </p:txBody>
      </p:sp>
      <p:sp>
        <p:nvSpPr>
          <p:cNvPr id="14" name="Shape 9"/>
          <p:cNvSpPr/>
          <p:nvPr/>
        </p:nvSpPr>
        <p:spPr>
          <a:xfrm>
            <a:off x="3870517" y="1573411"/>
            <a:ext cx="415733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0"/>
          <p:cNvSpPr/>
          <p:nvPr/>
        </p:nvSpPr>
        <p:spPr>
          <a:xfrm>
            <a:off x="3870517" y="1573411"/>
            <a:ext cx="415733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6-18 Ay</a:t>
            </a:r>
            <a:endParaRPr lang="en-US" sz="584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8" y="1990427"/>
            <a:ext cx="142875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4350" y="1962745"/>
            <a:ext cx="12918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Otomotiv (2. El / Servis)</a:t>
            </a:r>
            <a:endParaRPr lang="en-US" sz="784" dirty="0"/>
          </a:p>
        </p:txBody>
      </p:sp>
      <p:sp>
        <p:nvSpPr>
          <p:cNvPr id="18" name="Shape 12"/>
          <p:cNvSpPr/>
          <p:nvPr/>
        </p:nvSpPr>
        <p:spPr>
          <a:xfrm>
            <a:off x="3870517" y="1953816"/>
            <a:ext cx="415733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3"/>
          <p:cNvSpPr/>
          <p:nvPr/>
        </p:nvSpPr>
        <p:spPr>
          <a:xfrm>
            <a:off x="3870517" y="1953816"/>
            <a:ext cx="415733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6-18 Ay</a:t>
            </a:r>
            <a:endParaRPr lang="en-US" sz="584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38" y="2370832"/>
            <a:ext cx="142875" cy="10001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4350" y="2343150"/>
            <a:ext cx="13087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Beyaz Eşya &amp; Ev Aletleri</a:t>
            </a:r>
            <a:endParaRPr lang="en-US" sz="784" dirty="0"/>
          </a:p>
        </p:txBody>
      </p:sp>
      <p:sp>
        <p:nvSpPr>
          <p:cNvPr id="22" name="Shape 15"/>
          <p:cNvSpPr/>
          <p:nvPr/>
        </p:nvSpPr>
        <p:spPr>
          <a:xfrm>
            <a:off x="3870517" y="2334220"/>
            <a:ext cx="415733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16"/>
          <p:cNvSpPr/>
          <p:nvPr/>
        </p:nvSpPr>
        <p:spPr>
          <a:xfrm>
            <a:off x="3870517" y="2334220"/>
            <a:ext cx="415733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6-12 Ay</a:t>
            </a:r>
            <a:endParaRPr lang="en-US" sz="584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38" y="2751237"/>
            <a:ext cx="142875" cy="10001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4350" y="2723555"/>
            <a:ext cx="1083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Eğitim (Okul / Kurs)</a:t>
            </a:r>
            <a:endParaRPr lang="en-US" sz="784" dirty="0"/>
          </a:p>
        </p:txBody>
      </p:sp>
      <p:sp>
        <p:nvSpPr>
          <p:cNvPr id="26" name="Shape 18"/>
          <p:cNvSpPr/>
          <p:nvPr/>
        </p:nvSpPr>
        <p:spPr>
          <a:xfrm>
            <a:off x="3870517" y="2714625"/>
            <a:ext cx="415733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19"/>
          <p:cNvSpPr/>
          <p:nvPr/>
        </p:nvSpPr>
        <p:spPr>
          <a:xfrm>
            <a:off x="3870517" y="2714625"/>
            <a:ext cx="415733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6-12 Ay</a:t>
            </a:r>
            <a:endParaRPr lang="en-US" sz="584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038" y="3131641"/>
            <a:ext cx="142875" cy="10001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4350" y="3103959"/>
            <a:ext cx="10704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Elektronik (Tel / TV)</a:t>
            </a:r>
            <a:endParaRPr lang="en-US" sz="784" dirty="0"/>
          </a:p>
        </p:txBody>
      </p:sp>
      <p:sp>
        <p:nvSpPr>
          <p:cNvPr id="30" name="Shape 21"/>
          <p:cNvSpPr/>
          <p:nvPr/>
        </p:nvSpPr>
        <p:spPr>
          <a:xfrm>
            <a:off x="3870517" y="3095030"/>
            <a:ext cx="415733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2"/>
          <p:cNvSpPr/>
          <p:nvPr/>
        </p:nvSpPr>
        <p:spPr>
          <a:xfrm>
            <a:off x="3870517" y="3095030"/>
            <a:ext cx="415733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3-12 Ay</a:t>
            </a:r>
            <a:endParaRPr lang="en-US" sz="584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038" y="3512046"/>
            <a:ext cx="142875" cy="100013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4350" y="3484364"/>
            <a:ext cx="8578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Sağlık &amp; Estetik</a:t>
            </a:r>
            <a:endParaRPr lang="en-US" sz="784" dirty="0"/>
          </a:p>
        </p:txBody>
      </p:sp>
      <p:sp>
        <p:nvSpPr>
          <p:cNvPr id="34" name="Shape 24"/>
          <p:cNvSpPr/>
          <p:nvPr/>
        </p:nvSpPr>
        <p:spPr>
          <a:xfrm>
            <a:off x="3870517" y="3475434"/>
            <a:ext cx="415733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25"/>
          <p:cNvSpPr/>
          <p:nvPr/>
        </p:nvSpPr>
        <p:spPr>
          <a:xfrm>
            <a:off x="3870517" y="3475434"/>
            <a:ext cx="415733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3-12 Ay</a:t>
            </a:r>
            <a:endParaRPr lang="en-US" sz="584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038" y="3892451"/>
            <a:ext cx="142875" cy="100013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14350" y="3864769"/>
            <a:ext cx="11857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Ev Tadilat &amp; Yenileme</a:t>
            </a:r>
            <a:endParaRPr lang="en-US" sz="784" dirty="0"/>
          </a:p>
        </p:txBody>
      </p:sp>
      <p:sp>
        <p:nvSpPr>
          <p:cNvPr id="38" name="Shape 27"/>
          <p:cNvSpPr/>
          <p:nvPr/>
        </p:nvSpPr>
        <p:spPr>
          <a:xfrm>
            <a:off x="3870517" y="3855839"/>
            <a:ext cx="415733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28"/>
          <p:cNvSpPr/>
          <p:nvPr/>
        </p:nvSpPr>
        <p:spPr>
          <a:xfrm>
            <a:off x="3870517" y="3855839"/>
            <a:ext cx="415733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3-18 Ay</a:t>
            </a:r>
            <a:endParaRPr lang="en-US" sz="584" dirty="0"/>
          </a:p>
        </p:txBody>
      </p:sp>
      <p:sp>
        <p:nvSpPr>
          <p:cNvPr id="40" name="Shape 29"/>
          <p:cNvSpPr/>
          <p:nvPr/>
        </p:nvSpPr>
        <p:spPr>
          <a:xfrm>
            <a:off x="4572000" y="728663"/>
            <a:ext cx="4557713" cy="3971925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965299"/>
            <a:ext cx="171450" cy="2286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136356" y="942975"/>
            <a:ext cx="119136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B2B Pazarı</a:t>
            </a:r>
            <a:endParaRPr lang="en-US" sz="1397" dirty="0"/>
          </a:p>
        </p:txBody>
      </p:sp>
      <p:sp>
        <p:nvSpPr>
          <p:cNvPr id="43" name="Text 31"/>
          <p:cNvSpPr/>
          <p:nvPr/>
        </p:nvSpPr>
        <p:spPr>
          <a:xfrm>
            <a:off x="7596290" y="1011734"/>
            <a:ext cx="12476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Fatura / Çek / Açık Hesap</a:t>
            </a:r>
            <a:endParaRPr lang="en-US" sz="683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0" y="1610023"/>
            <a:ext cx="142875" cy="100013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5072063" y="1582341"/>
            <a:ext cx="10686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İnşaat Malzemeleri</a:t>
            </a:r>
            <a:endParaRPr lang="en-US" sz="784" dirty="0"/>
          </a:p>
        </p:txBody>
      </p:sp>
      <p:sp>
        <p:nvSpPr>
          <p:cNvPr id="46" name="Shape 33"/>
          <p:cNvSpPr/>
          <p:nvPr/>
        </p:nvSpPr>
        <p:spPr>
          <a:xfrm>
            <a:off x="8262277" y="1573411"/>
            <a:ext cx="581685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7" name="Text 34"/>
          <p:cNvSpPr/>
          <p:nvPr/>
        </p:nvSpPr>
        <p:spPr>
          <a:xfrm>
            <a:off x="8262277" y="1573411"/>
            <a:ext cx="581685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60-180 Gün</a:t>
            </a:r>
            <a:endParaRPr lang="en-US" sz="584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0" y="1990427"/>
            <a:ext cx="142875" cy="100013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5072063" y="1962745"/>
            <a:ext cx="11867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Makine &amp; Endüstriyel</a:t>
            </a:r>
            <a:endParaRPr lang="en-US" sz="784" dirty="0"/>
          </a:p>
        </p:txBody>
      </p:sp>
      <p:sp>
        <p:nvSpPr>
          <p:cNvPr id="50" name="Shape 36"/>
          <p:cNvSpPr/>
          <p:nvPr/>
        </p:nvSpPr>
        <p:spPr>
          <a:xfrm>
            <a:off x="8262277" y="1953816"/>
            <a:ext cx="581685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1" name="Text 37"/>
          <p:cNvSpPr/>
          <p:nvPr/>
        </p:nvSpPr>
        <p:spPr>
          <a:xfrm>
            <a:off x="8262277" y="1953816"/>
            <a:ext cx="581685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60-180 Gün</a:t>
            </a:r>
            <a:endParaRPr lang="en-US" sz="584" dirty="0"/>
          </a:p>
        </p:txBody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0" y="2370832"/>
            <a:ext cx="142875" cy="100013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5072063" y="2343150"/>
            <a:ext cx="7963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Tarım Girdileri</a:t>
            </a:r>
            <a:endParaRPr lang="en-US" sz="784" dirty="0"/>
          </a:p>
        </p:txBody>
      </p:sp>
      <p:sp>
        <p:nvSpPr>
          <p:cNvPr id="54" name="Shape 39"/>
          <p:cNvSpPr/>
          <p:nvPr/>
        </p:nvSpPr>
        <p:spPr>
          <a:xfrm>
            <a:off x="8262277" y="2334220"/>
            <a:ext cx="581685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5" name="Text 40"/>
          <p:cNvSpPr/>
          <p:nvPr/>
        </p:nvSpPr>
        <p:spPr>
          <a:xfrm>
            <a:off x="8262277" y="2334220"/>
            <a:ext cx="581685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90-180 Gün</a:t>
            </a:r>
            <a:endParaRPr lang="en-US" sz="584" dirty="0"/>
          </a:p>
        </p:txBody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7750" y="2751237"/>
            <a:ext cx="142875" cy="100013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5072063" y="2723555"/>
            <a:ext cx="11457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Tekstil &amp; Hazır Giyim</a:t>
            </a:r>
            <a:endParaRPr lang="en-US" sz="784" dirty="0"/>
          </a:p>
        </p:txBody>
      </p:sp>
      <p:sp>
        <p:nvSpPr>
          <p:cNvPr id="58" name="Shape 42"/>
          <p:cNvSpPr/>
          <p:nvPr/>
        </p:nvSpPr>
        <p:spPr>
          <a:xfrm>
            <a:off x="8262277" y="2714625"/>
            <a:ext cx="581685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9" name="Text 43"/>
          <p:cNvSpPr/>
          <p:nvPr/>
        </p:nvSpPr>
        <p:spPr>
          <a:xfrm>
            <a:off x="8262277" y="2714625"/>
            <a:ext cx="581685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30-180 Gün</a:t>
            </a:r>
            <a:endParaRPr lang="en-US" sz="584" dirty="0"/>
          </a:p>
        </p:txBody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7750" y="3131641"/>
            <a:ext cx="142875" cy="100013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5072063" y="3103959"/>
            <a:ext cx="9113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Oto Yedek Parça</a:t>
            </a:r>
            <a:endParaRPr lang="en-US" sz="784" dirty="0"/>
          </a:p>
        </p:txBody>
      </p:sp>
      <p:sp>
        <p:nvSpPr>
          <p:cNvPr id="62" name="Shape 45"/>
          <p:cNvSpPr/>
          <p:nvPr/>
        </p:nvSpPr>
        <p:spPr>
          <a:xfrm>
            <a:off x="8262277" y="3095030"/>
            <a:ext cx="581685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3" name="Text 46"/>
          <p:cNvSpPr/>
          <p:nvPr/>
        </p:nvSpPr>
        <p:spPr>
          <a:xfrm>
            <a:off x="8262277" y="3095030"/>
            <a:ext cx="581685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30-120 Gün</a:t>
            </a:r>
            <a:endParaRPr lang="en-US" sz="584" dirty="0"/>
          </a:p>
        </p:txBody>
      </p:sp>
      <p:pic>
        <p:nvPicPr>
          <p:cNvPr id="6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7750" y="3512046"/>
            <a:ext cx="142875" cy="100013"/>
          </a:xfrm>
          <a:prstGeom prst="rect">
            <a:avLst/>
          </a:prstGeom>
        </p:spPr>
      </p:pic>
      <p:sp>
        <p:nvSpPr>
          <p:cNvPr id="65" name="Text 47"/>
          <p:cNvSpPr/>
          <p:nvPr/>
        </p:nvSpPr>
        <p:spPr>
          <a:xfrm>
            <a:off x="5072063" y="3484364"/>
            <a:ext cx="13260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FMCG &amp; Toptan Dağıtım</a:t>
            </a:r>
            <a:endParaRPr lang="en-US" sz="784" dirty="0"/>
          </a:p>
        </p:txBody>
      </p:sp>
      <p:sp>
        <p:nvSpPr>
          <p:cNvPr id="66" name="Shape 48"/>
          <p:cNvSpPr/>
          <p:nvPr/>
        </p:nvSpPr>
        <p:spPr>
          <a:xfrm>
            <a:off x="8262277" y="3475434"/>
            <a:ext cx="581685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7" name="Text 49"/>
          <p:cNvSpPr/>
          <p:nvPr/>
        </p:nvSpPr>
        <p:spPr>
          <a:xfrm>
            <a:off x="8262277" y="3475434"/>
            <a:ext cx="581685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30-120 Gün</a:t>
            </a:r>
            <a:endParaRPr lang="en-US" sz="584" dirty="0"/>
          </a:p>
        </p:txBody>
      </p:sp>
      <p:pic>
        <p:nvPicPr>
          <p:cNvPr id="6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7750" y="3892451"/>
            <a:ext cx="142875" cy="100013"/>
          </a:xfrm>
          <a:prstGeom prst="rect">
            <a:avLst/>
          </a:prstGeom>
        </p:spPr>
      </p:pic>
      <p:sp>
        <p:nvSpPr>
          <p:cNvPr id="69" name="Text 50"/>
          <p:cNvSpPr/>
          <p:nvPr/>
        </p:nvSpPr>
        <p:spPr>
          <a:xfrm>
            <a:off x="5072063" y="3864769"/>
            <a:ext cx="11577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Lojistik &amp; Taşımacılık</a:t>
            </a:r>
            <a:endParaRPr lang="en-US" sz="784" dirty="0"/>
          </a:p>
        </p:txBody>
      </p:sp>
      <p:sp>
        <p:nvSpPr>
          <p:cNvPr id="70" name="Shape 51"/>
          <p:cNvSpPr/>
          <p:nvPr/>
        </p:nvSpPr>
        <p:spPr>
          <a:xfrm>
            <a:off x="8311307" y="3855839"/>
            <a:ext cx="532656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1" name="Text 52"/>
          <p:cNvSpPr/>
          <p:nvPr/>
        </p:nvSpPr>
        <p:spPr>
          <a:xfrm>
            <a:off x="8311307" y="3855839"/>
            <a:ext cx="532656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30-90 Gün</a:t>
            </a:r>
            <a:endParaRPr lang="en-US" sz="584" dirty="0"/>
          </a:p>
        </p:txBody>
      </p:sp>
      <p:sp>
        <p:nvSpPr>
          <p:cNvPr id="72" name="Shape 53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3" name="Shape 54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0038" y="4857750"/>
            <a:ext cx="114300" cy="114300"/>
          </a:xfrm>
          <a:prstGeom prst="rect">
            <a:avLst/>
          </a:prstGeom>
        </p:spPr>
      </p:pic>
      <p:sp>
        <p:nvSpPr>
          <p:cNvPr id="75" name="Text 55"/>
          <p:cNvSpPr/>
          <p:nvPr/>
        </p:nvSpPr>
        <p:spPr>
          <a:xfrm>
            <a:off x="521494" y="4837212"/>
            <a:ext cx="33290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Türkiye'de vadeli satış (0-18 ay) yapan ana sektörlerin dağılımı.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12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5057496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Alınacak Teminat ve Alacak Türleri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4288" y="728663"/>
            <a:ext cx="4557713" cy="19859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557713" y="728663"/>
            <a:ext cx="14288" cy="19859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14288" y="2700338"/>
            <a:ext cx="4557713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8" y="1105691"/>
            <a:ext cx="3986213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0038" y="1591466"/>
            <a:ext cx="398621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Fatura Alacağı</a:t>
            </a:r>
            <a:endParaRPr lang="en-US" sz="1397" dirty="0"/>
          </a:p>
        </p:txBody>
      </p:sp>
      <p:sp>
        <p:nvSpPr>
          <p:cNvPr id="12" name="Text 8"/>
          <p:cNvSpPr/>
          <p:nvPr/>
        </p:nvSpPr>
        <p:spPr>
          <a:xfrm>
            <a:off x="300038" y="1971870"/>
            <a:ext cx="39862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Mal veya hizmet satışı kaynaklı, vadesi gelmemiş ve belgelendirilebilir vadeli satış faturaları.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4572000" y="728663"/>
            <a:ext cx="4557713" cy="19859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0" y="2700338"/>
            <a:ext cx="4557713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105691"/>
            <a:ext cx="3986213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57750" y="1591466"/>
            <a:ext cx="398621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Çek / Senet</a:t>
            </a:r>
            <a:endParaRPr lang="en-US" sz="1397" dirty="0"/>
          </a:p>
        </p:txBody>
      </p:sp>
      <p:sp>
        <p:nvSpPr>
          <p:cNvPr id="17" name="Text 12"/>
          <p:cNvSpPr/>
          <p:nvPr/>
        </p:nvSpPr>
        <p:spPr>
          <a:xfrm>
            <a:off x="4857750" y="1971870"/>
            <a:ext cx="39862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Ciro ve temlik edilebilir, hukuki geçerliliği olan ve ticari işlemden doğan kıymetli evraklar.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14288" y="2714625"/>
            <a:ext cx="4557713" cy="19859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9" name="Shape 14"/>
          <p:cNvSpPr/>
          <p:nvPr/>
        </p:nvSpPr>
        <p:spPr>
          <a:xfrm>
            <a:off x="4557713" y="2714625"/>
            <a:ext cx="14288" cy="1985963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8" y="3091653"/>
            <a:ext cx="3986213" cy="342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00038" y="3577428"/>
            <a:ext cx="398621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Kredi Kartı / POS</a:t>
            </a:r>
            <a:endParaRPr lang="en-US" sz="1397" dirty="0"/>
          </a:p>
        </p:txBody>
      </p:sp>
      <p:sp>
        <p:nvSpPr>
          <p:cNvPr id="22" name="Text 16"/>
          <p:cNvSpPr/>
          <p:nvPr/>
        </p:nvSpPr>
        <p:spPr>
          <a:xfrm>
            <a:off x="300038" y="3957833"/>
            <a:ext cx="39862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Bankalar nezdinde doğmuş (blokeli) veya taksitli satışlardan kaynaklanan gelecekteki alacaklar.</a:t>
            </a:r>
            <a:endParaRPr lang="en-US" sz="834" dirty="0"/>
          </a:p>
        </p:txBody>
      </p:sp>
      <p:sp>
        <p:nvSpPr>
          <p:cNvPr id="23" name="Shape 17"/>
          <p:cNvSpPr/>
          <p:nvPr/>
        </p:nvSpPr>
        <p:spPr>
          <a:xfrm>
            <a:off x="4572000" y="2714625"/>
            <a:ext cx="4557713" cy="198596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3091653"/>
            <a:ext cx="3986213" cy="3429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57750" y="3577428"/>
            <a:ext cx="398621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Sözleşmeye Bağlı</a:t>
            </a:r>
            <a:endParaRPr lang="en-US" sz="1397" dirty="0"/>
          </a:p>
        </p:txBody>
      </p:sp>
      <p:sp>
        <p:nvSpPr>
          <p:cNvPr id="26" name="Text 19"/>
          <p:cNvSpPr/>
          <p:nvPr/>
        </p:nvSpPr>
        <p:spPr>
          <a:xfrm>
            <a:off x="4857750" y="3957833"/>
            <a:ext cx="39862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Eğitim, sağlık paketleri veya abonelik gibi sözleşmeye dayalı düzenli taksit alacakları.</a:t>
            </a:r>
            <a:endParaRPr lang="en-US" sz="834" dirty="0"/>
          </a:p>
        </p:txBody>
      </p:sp>
      <p:sp>
        <p:nvSpPr>
          <p:cNvPr id="27" name="Shape 20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Shape 21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38" y="4857750"/>
            <a:ext cx="114300" cy="1143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1494" y="4837212"/>
            <a:ext cx="34103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VDMK ihracına konu olabilecek temel alacak ve teminat sınıfları.</a:t>
            </a:r>
            <a:endParaRPr lang="en-US" sz="8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09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331966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Yatırımcı Değer Önerisi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4288" y="728663"/>
            <a:ext cx="3043238" cy="39719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3043238" y="728663"/>
            <a:ext cx="14288" cy="39719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14288" y="728663"/>
            <a:ext cx="3033722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14288" y="2000250"/>
            <a:ext cx="3033722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28688"/>
            <a:ext cx="2605097" cy="285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" y="1357313"/>
            <a:ext cx="26050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Güvenlik</a:t>
            </a:r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&amp; Yapı</a:t>
            </a:r>
            <a:endParaRPr lang="en-US" sz="1602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66355"/>
            <a:ext cx="100013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0050" y="2228850"/>
            <a:ext cx="9088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Teminatlı Yapı</a:t>
            </a:r>
            <a:endParaRPr lang="en-US" sz="885" dirty="0"/>
          </a:p>
        </p:txBody>
      </p:sp>
      <p:sp>
        <p:nvSpPr>
          <p:cNvPr id="15" name="Text 10"/>
          <p:cNvSpPr/>
          <p:nvPr/>
        </p:nvSpPr>
        <p:spPr>
          <a:xfrm>
            <a:off x="228600" y="2475309"/>
            <a:ext cx="2605097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Sadece ihraççı notuna değil, doğrudan alacak portföyünün kalitesine dayalı yatırım.</a:t>
            </a:r>
            <a:endParaRPr lang="en-US" sz="834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070027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0050" y="3032522"/>
            <a:ext cx="7436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Bilanço Dışı</a:t>
            </a:r>
            <a:endParaRPr lang="en-US" sz="885" dirty="0"/>
          </a:p>
        </p:txBody>
      </p:sp>
      <p:sp>
        <p:nvSpPr>
          <p:cNvPr id="18" name="Text 12"/>
          <p:cNvSpPr/>
          <p:nvPr/>
        </p:nvSpPr>
        <p:spPr>
          <a:xfrm>
            <a:off x="228600" y="3278981"/>
            <a:ext cx="2605097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Kaynak kuruluş riskinden izole edilmiş, iflasa karşı korunaklı varlık havuzu.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3048009" y="728663"/>
            <a:ext cx="3048009" cy="39719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4"/>
          <p:cNvSpPr/>
          <p:nvPr/>
        </p:nvSpPr>
        <p:spPr>
          <a:xfrm>
            <a:off x="6081731" y="728663"/>
            <a:ext cx="14288" cy="39719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Shape 15"/>
          <p:cNvSpPr/>
          <p:nvPr/>
        </p:nvSpPr>
        <p:spPr>
          <a:xfrm>
            <a:off x="3052753" y="728663"/>
            <a:ext cx="3038466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>
            <a:off x="3052753" y="2000250"/>
            <a:ext cx="3038466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7066" y="928688"/>
            <a:ext cx="2609841" cy="2857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267066" y="1357313"/>
            <a:ext cx="2609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Şeffaflık</a:t>
            </a:r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&amp; İzleme</a:t>
            </a:r>
            <a:endParaRPr lang="en-US" sz="1602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066" y="2266355"/>
            <a:ext cx="100013" cy="10001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438516" y="2228850"/>
            <a:ext cx="7012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Nakit Akışı</a:t>
            </a:r>
            <a:endParaRPr lang="en-US" sz="885" dirty="0"/>
          </a:p>
        </p:txBody>
      </p:sp>
      <p:sp>
        <p:nvSpPr>
          <p:cNvPr id="27" name="Text 19"/>
          <p:cNvSpPr/>
          <p:nvPr/>
        </p:nvSpPr>
        <p:spPr>
          <a:xfrm>
            <a:off x="3267066" y="2475309"/>
            <a:ext cx="2609841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Önceden tanımlı kurallar ve düzenli kupon ödemeleri ile öngörülebilirlik.</a:t>
            </a:r>
            <a:endParaRPr lang="en-US" sz="834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7066" y="3070027"/>
            <a:ext cx="100013" cy="10001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438516" y="3032522"/>
            <a:ext cx="7027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Raporlama</a:t>
            </a:r>
            <a:endParaRPr lang="en-US" sz="885" dirty="0"/>
          </a:p>
        </p:txBody>
      </p:sp>
      <p:sp>
        <p:nvSpPr>
          <p:cNvPr id="30" name="Text 21"/>
          <p:cNvSpPr/>
          <p:nvPr/>
        </p:nvSpPr>
        <p:spPr>
          <a:xfrm>
            <a:off x="3267066" y="3278981"/>
            <a:ext cx="2609841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SPK standartlarında aylık performans raporları ve bağımsız denetim.</a:t>
            </a:r>
            <a:endParaRPr lang="en-US" sz="834" dirty="0"/>
          </a:p>
        </p:txBody>
      </p:sp>
      <p:sp>
        <p:nvSpPr>
          <p:cNvPr id="31" name="Shape 22"/>
          <p:cNvSpPr/>
          <p:nvPr/>
        </p:nvSpPr>
        <p:spPr>
          <a:xfrm>
            <a:off x="6091219" y="728663"/>
            <a:ext cx="3038466" cy="39719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23"/>
          <p:cNvSpPr/>
          <p:nvPr/>
        </p:nvSpPr>
        <p:spPr>
          <a:xfrm>
            <a:off x="6091219" y="728663"/>
            <a:ext cx="3038466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4"/>
          <p:cNvSpPr/>
          <p:nvPr/>
        </p:nvSpPr>
        <p:spPr>
          <a:xfrm>
            <a:off x="6091219" y="2000250"/>
            <a:ext cx="3038466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31" y="928688"/>
            <a:ext cx="2609841" cy="28575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305531" y="1357313"/>
            <a:ext cx="2609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Getiri</a:t>
            </a:r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&amp; Fırsat</a:t>
            </a:r>
            <a:endParaRPr lang="en-US" sz="1602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5531" y="2266355"/>
            <a:ext cx="100013" cy="100013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476981" y="2228850"/>
            <a:ext cx="8978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Çeşitlendirme</a:t>
            </a:r>
            <a:endParaRPr lang="en-US" sz="885" dirty="0"/>
          </a:p>
        </p:txBody>
      </p:sp>
      <p:sp>
        <p:nvSpPr>
          <p:cNvPr id="38" name="Text 27"/>
          <p:cNvSpPr/>
          <p:nvPr/>
        </p:nvSpPr>
        <p:spPr>
          <a:xfrm>
            <a:off x="6305531" y="2475309"/>
            <a:ext cx="2609841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Farklı sektörlerden (e-ticaret, otomotiv) alacaklara dayalı alternatif varlık sınıfı.</a:t>
            </a:r>
            <a:endParaRPr lang="en-US" sz="834" dirty="0"/>
          </a:p>
        </p:txBody>
      </p:sp>
      <p:sp>
        <p:nvSpPr>
          <p:cNvPr id="39" name="Shape 28"/>
          <p:cNvSpPr/>
          <p:nvPr/>
        </p:nvSpPr>
        <p:spPr>
          <a:xfrm>
            <a:off x="6305531" y="3670102"/>
            <a:ext cx="2609841" cy="816173"/>
          </a:xfrm>
          <a:prstGeom prst="rect">
            <a:avLst/>
          </a:prstGeom>
          <a:solidFill>
            <a:srgbClr val="0047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6448406" y="3841552"/>
            <a:ext cx="232409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Yüksek</a:t>
            </a:r>
            <a:endParaRPr lang="en-US" sz="1808" dirty="0"/>
          </a:p>
        </p:txBody>
      </p:sp>
      <p:sp>
        <p:nvSpPr>
          <p:cNvPr id="41" name="Text 30"/>
          <p:cNvSpPr/>
          <p:nvPr/>
        </p:nvSpPr>
        <p:spPr>
          <a:xfrm>
            <a:off x="6448406" y="4227314"/>
            <a:ext cx="23240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80000"/>
                  </a:srgbClr>
                </a:solidFill>
              </a:rPr>
              <a:t>Getiri Potansiyeli</a:t>
            </a:r>
            <a:endParaRPr lang="en-US" sz="621" dirty="0"/>
          </a:p>
        </p:txBody>
      </p:sp>
      <p:sp>
        <p:nvSpPr>
          <p:cNvPr id="42" name="Shape 31"/>
          <p:cNvSpPr/>
          <p:nvPr/>
        </p:nvSpPr>
        <p:spPr>
          <a:xfrm>
            <a:off x="14288" y="4700588"/>
            <a:ext cx="9115425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Shape 32"/>
          <p:cNvSpPr/>
          <p:nvPr/>
        </p:nvSpPr>
        <p:spPr>
          <a:xfrm>
            <a:off x="14288" y="4700588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038" y="4857750"/>
            <a:ext cx="114300" cy="1143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21494" y="4837212"/>
            <a:ext cx="34035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Kurumsal yatırımcıya şeffaf, veri destekli ve yüksek getirili ürün.</a:t>
            </a:r>
            <a:endParaRPr lang="en-US" sz="8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714375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00038" y="192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12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71538" y="196453"/>
            <a:ext cx="250251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Referans Projeler</a:t>
            </a:r>
            <a:endParaRPr lang="en-US" sz="1808" dirty="0"/>
          </a:p>
        </p:txBody>
      </p:sp>
      <p:sp>
        <p:nvSpPr>
          <p:cNvPr id="7" name="Shape 4"/>
          <p:cNvSpPr/>
          <p:nvPr/>
        </p:nvSpPr>
        <p:spPr>
          <a:xfrm>
            <a:off x="14288" y="728663"/>
            <a:ext cx="4557713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557713" y="728663"/>
            <a:ext cx="14288" cy="2000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14288" y="2714625"/>
            <a:ext cx="4557713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185738" y="900113"/>
            <a:ext cx="14477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Hepsiburada</a:t>
            </a:r>
            <a:endParaRPr lang="en-US" sz="1397" dirty="0"/>
          </a:p>
        </p:txBody>
      </p:sp>
      <p:sp>
        <p:nvSpPr>
          <p:cNvPr id="11" name="Shape 8"/>
          <p:cNvSpPr/>
          <p:nvPr/>
        </p:nvSpPr>
        <p:spPr>
          <a:xfrm>
            <a:off x="3880061" y="900113"/>
            <a:ext cx="520489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3880061" y="900113"/>
            <a:ext cx="520489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E-Ticaret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185738" y="1244798"/>
            <a:ext cx="42148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47FF"/>
                </a:solidFill>
              </a:rPr>
              <a:t>500M TL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185738" y="1601986"/>
            <a:ext cx="42148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VDMK İhraç Tutarı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185738" y="1823442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Kredi Notu</a:t>
            </a:r>
            <a:endParaRPr lang="en-US" sz="584" dirty="0"/>
          </a:p>
        </p:txBody>
      </p:sp>
      <p:sp>
        <p:nvSpPr>
          <p:cNvPr id="16" name="Shape 13"/>
          <p:cNvSpPr/>
          <p:nvPr/>
        </p:nvSpPr>
        <p:spPr>
          <a:xfrm>
            <a:off x="185738" y="1925241"/>
            <a:ext cx="401334" cy="183952"/>
          </a:xfrm>
          <a:prstGeom prst="rect">
            <a:avLst/>
          </a:prstGeom>
          <a:solidFill>
            <a:srgbClr val="E6F0FF"/>
          </a:solidFill>
          <a:ln/>
        </p:spPr>
      </p:sp>
      <p:sp>
        <p:nvSpPr>
          <p:cNvPr id="17" name="Text 14"/>
          <p:cNvSpPr/>
          <p:nvPr/>
        </p:nvSpPr>
        <p:spPr>
          <a:xfrm>
            <a:off x="185738" y="1925241"/>
            <a:ext cx="401334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7FF"/>
                </a:solidFill>
              </a:rPr>
              <a:t>TR A1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2336006" y="1823442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Vade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2336006" y="1939528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70 Gün (Ort.)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185738" y="2180630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Dayanak Varlık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185738" y="2296716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434K Adet BNPL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2336006" y="2180630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Getiri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2336006" y="2296716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%42.75 (Basit)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4572000" y="728663"/>
            <a:ext cx="4557713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572000" y="2714625"/>
            <a:ext cx="4557713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4743450" y="900113"/>
            <a:ext cx="102613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Maygold</a:t>
            </a:r>
            <a:endParaRPr lang="en-US" sz="1397" dirty="0"/>
          </a:p>
        </p:txBody>
      </p:sp>
      <p:sp>
        <p:nvSpPr>
          <p:cNvPr id="27" name="Shape 24"/>
          <p:cNvSpPr/>
          <p:nvPr/>
        </p:nvSpPr>
        <p:spPr>
          <a:xfrm>
            <a:off x="8396390" y="900113"/>
            <a:ext cx="561873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8396390" y="900113"/>
            <a:ext cx="561873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Otomotiv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4743450" y="1244798"/>
            <a:ext cx="42148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47FF"/>
                </a:solidFill>
              </a:rPr>
              <a:t>600M TL</a:t>
            </a:r>
            <a:endParaRPr lang="en-US" sz="2436" dirty="0"/>
          </a:p>
        </p:txBody>
      </p:sp>
      <p:sp>
        <p:nvSpPr>
          <p:cNvPr id="30" name="Text 27"/>
          <p:cNvSpPr/>
          <p:nvPr/>
        </p:nvSpPr>
        <p:spPr>
          <a:xfrm>
            <a:off x="4743450" y="1601986"/>
            <a:ext cx="42148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VDMK İhraç Tutarı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743450" y="1823442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İhraç Sayısı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4743450" y="1939528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10. İhraç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6893719" y="1823442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Vade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6893719" y="1939528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12 Ay (350 Gün)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743450" y="2180630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Teminat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4743450" y="2296716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%110 Oranında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6893719" y="2180630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Garanti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6893719" y="2296716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%100 Kurumsal</a:t>
            </a:r>
            <a:endParaRPr lang="en-US" sz="784" dirty="0"/>
          </a:p>
        </p:txBody>
      </p:sp>
      <p:sp>
        <p:nvSpPr>
          <p:cNvPr id="39" name="Shape 36"/>
          <p:cNvSpPr/>
          <p:nvPr/>
        </p:nvSpPr>
        <p:spPr>
          <a:xfrm>
            <a:off x="14288" y="2728913"/>
            <a:ext cx="4557713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4557713" y="2728913"/>
            <a:ext cx="14288" cy="2000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Text 38"/>
          <p:cNvSpPr/>
          <p:nvPr/>
        </p:nvSpPr>
        <p:spPr>
          <a:xfrm>
            <a:off x="185738" y="2900363"/>
            <a:ext cx="116616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Seyidoğlu</a:t>
            </a:r>
            <a:endParaRPr lang="en-US" sz="1397" dirty="0"/>
          </a:p>
        </p:txBody>
      </p:sp>
      <p:sp>
        <p:nvSpPr>
          <p:cNvPr id="42" name="Shape 39"/>
          <p:cNvSpPr/>
          <p:nvPr/>
        </p:nvSpPr>
        <p:spPr>
          <a:xfrm>
            <a:off x="3739837" y="2900363"/>
            <a:ext cx="660713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40"/>
          <p:cNvSpPr/>
          <p:nvPr/>
        </p:nvSpPr>
        <p:spPr>
          <a:xfrm>
            <a:off x="3739837" y="2900363"/>
            <a:ext cx="660713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Yedek Parça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185738" y="3245048"/>
            <a:ext cx="42148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47FF"/>
                </a:solidFill>
              </a:rPr>
              <a:t>200M TL</a:t>
            </a:r>
            <a:endParaRPr lang="en-US" sz="2436" dirty="0"/>
          </a:p>
        </p:txBody>
      </p:sp>
      <p:sp>
        <p:nvSpPr>
          <p:cNvPr id="45" name="Text 42"/>
          <p:cNvSpPr/>
          <p:nvPr/>
        </p:nvSpPr>
        <p:spPr>
          <a:xfrm>
            <a:off x="185738" y="3602236"/>
            <a:ext cx="42148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VDMK İhraç Tutarı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185738" y="3823692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Kredi Notu</a:t>
            </a:r>
            <a:endParaRPr lang="en-US" sz="584" dirty="0"/>
          </a:p>
        </p:txBody>
      </p:sp>
      <p:sp>
        <p:nvSpPr>
          <p:cNvPr id="47" name="Shape 44"/>
          <p:cNvSpPr/>
          <p:nvPr/>
        </p:nvSpPr>
        <p:spPr>
          <a:xfrm>
            <a:off x="185738" y="3925491"/>
            <a:ext cx="401334" cy="183952"/>
          </a:xfrm>
          <a:prstGeom prst="rect">
            <a:avLst/>
          </a:prstGeom>
          <a:solidFill>
            <a:srgbClr val="E6F0FF"/>
          </a:solidFill>
          <a:ln/>
        </p:spPr>
      </p:sp>
      <p:sp>
        <p:nvSpPr>
          <p:cNvPr id="48" name="Text 45"/>
          <p:cNvSpPr/>
          <p:nvPr/>
        </p:nvSpPr>
        <p:spPr>
          <a:xfrm>
            <a:off x="185738" y="3925491"/>
            <a:ext cx="401334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7FF"/>
                </a:solidFill>
              </a:rPr>
              <a:t>TR A1</a:t>
            </a:r>
            <a:endParaRPr lang="en-US" sz="784" dirty="0"/>
          </a:p>
        </p:txBody>
      </p:sp>
      <p:sp>
        <p:nvSpPr>
          <p:cNvPr id="49" name="Text 46"/>
          <p:cNvSpPr/>
          <p:nvPr/>
        </p:nvSpPr>
        <p:spPr>
          <a:xfrm>
            <a:off x="2336006" y="3823692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Vade</a:t>
            </a:r>
            <a:endParaRPr lang="en-US" sz="584" dirty="0"/>
          </a:p>
        </p:txBody>
      </p:sp>
      <p:sp>
        <p:nvSpPr>
          <p:cNvPr id="50" name="Text 47"/>
          <p:cNvSpPr/>
          <p:nvPr/>
        </p:nvSpPr>
        <p:spPr>
          <a:xfrm>
            <a:off x="2336006" y="3939778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130 Gün (Ort.)</a:t>
            </a:r>
            <a:endParaRPr lang="en-US" sz="784" dirty="0"/>
          </a:p>
        </p:txBody>
      </p:sp>
      <p:sp>
        <p:nvSpPr>
          <p:cNvPr id="51" name="Text 48"/>
          <p:cNvSpPr/>
          <p:nvPr/>
        </p:nvSpPr>
        <p:spPr>
          <a:xfrm>
            <a:off x="185738" y="4180880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Getiri</a:t>
            </a:r>
            <a:endParaRPr lang="en-US" sz="584" dirty="0"/>
          </a:p>
        </p:txBody>
      </p:sp>
      <p:sp>
        <p:nvSpPr>
          <p:cNvPr id="52" name="Text 49"/>
          <p:cNvSpPr/>
          <p:nvPr/>
        </p:nvSpPr>
        <p:spPr>
          <a:xfrm>
            <a:off x="185738" y="4296966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%51 (Yıllık Basit)</a:t>
            </a:r>
            <a:endParaRPr lang="en-US" sz="784" dirty="0"/>
          </a:p>
        </p:txBody>
      </p:sp>
      <p:sp>
        <p:nvSpPr>
          <p:cNvPr id="53" name="Text 50"/>
          <p:cNvSpPr/>
          <p:nvPr/>
        </p:nvSpPr>
        <p:spPr>
          <a:xfrm>
            <a:off x="2336006" y="4180880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Yapı</a:t>
            </a:r>
            <a:endParaRPr lang="en-US" sz="584" dirty="0"/>
          </a:p>
        </p:txBody>
      </p:sp>
      <p:sp>
        <p:nvSpPr>
          <p:cNvPr id="54" name="Text 51"/>
          <p:cNvSpPr/>
          <p:nvPr/>
        </p:nvSpPr>
        <p:spPr>
          <a:xfrm>
            <a:off x="2336006" y="4296966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3 Tertip Halinde</a:t>
            </a:r>
            <a:endParaRPr lang="en-US" sz="784" dirty="0"/>
          </a:p>
        </p:txBody>
      </p:sp>
      <p:sp>
        <p:nvSpPr>
          <p:cNvPr id="55" name="Shape 52"/>
          <p:cNvSpPr/>
          <p:nvPr/>
        </p:nvSpPr>
        <p:spPr>
          <a:xfrm>
            <a:off x="4572000" y="2728913"/>
            <a:ext cx="4557713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/>
          <p:nvPr/>
        </p:nvSpPr>
        <p:spPr>
          <a:xfrm>
            <a:off x="4743450" y="2900363"/>
            <a:ext cx="74749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Tarfin</a:t>
            </a:r>
            <a:endParaRPr lang="en-US" sz="1397" dirty="0"/>
          </a:p>
        </p:txBody>
      </p:sp>
      <p:sp>
        <p:nvSpPr>
          <p:cNvPr id="57" name="Shape 54"/>
          <p:cNvSpPr/>
          <p:nvPr/>
        </p:nvSpPr>
        <p:spPr>
          <a:xfrm>
            <a:off x="8587374" y="2900363"/>
            <a:ext cx="370889" cy="173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8" name="Text 55"/>
          <p:cNvSpPr/>
          <p:nvPr/>
        </p:nvSpPr>
        <p:spPr>
          <a:xfrm>
            <a:off x="8587374" y="2900363"/>
            <a:ext cx="370889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Tarım</a:t>
            </a:r>
            <a:endParaRPr lang="en-US" sz="621" dirty="0"/>
          </a:p>
        </p:txBody>
      </p:sp>
      <p:sp>
        <p:nvSpPr>
          <p:cNvPr id="59" name="Text 56"/>
          <p:cNvSpPr/>
          <p:nvPr/>
        </p:nvSpPr>
        <p:spPr>
          <a:xfrm>
            <a:off x="4743450" y="3245048"/>
            <a:ext cx="42148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47FF"/>
                </a:solidFill>
              </a:rPr>
              <a:t>120M TL</a:t>
            </a:r>
            <a:endParaRPr lang="en-US" sz="2436" dirty="0"/>
          </a:p>
        </p:txBody>
      </p:sp>
      <p:sp>
        <p:nvSpPr>
          <p:cNvPr id="60" name="Text 57"/>
          <p:cNvSpPr/>
          <p:nvPr/>
        </p:nvSpPr>
        <p:spPr>
          <a:xfrm>
            <a:off x="4743450" y="3602236"/>
            <a:ext cx="42148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VDMK İhraç Tutarı</a:t>
            </a:r>
            <a:endParaRPr lang="en-US" sz="683" dirty="0"/>
          </a:p>
        </p:txBody>
      </p:sp>
      <p:sp>
        <p:nvSpPr>
          <p:cNvPr id="61" name="Text 58"/>
          <p:cNvSpPr/>
          <p:nvPr/>
        </p:nvSpPr>
        <p:spPr>
          <a:xfrm>
            <a:off x="4743450" y="3823692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Kredi Notu</a:t>
            </a:r>
            <a:endParaRPr lang="en-US" sz="584" dirty="0"/>
          </a:p>
        </p:txBody>
      </p:sp>
      <p:sp>
        <p:nvSpPr>
          <p:cNvPr id="62" name="Shape 59"/>
          <p:cNvSpPr/>
          <p:nvPr/>
        </p:nvSpPr>
        <p:spPr>
          <a:xfrm>
            <a:off x="4743450" y="3925491"/>
            <a:ext cx="401334" cy="183952"/>
          </a:xfrm>
          <a:prstGeom prst="rect">
            <a:avLst/>
          </a:prstGeom>
          <a:solidFill>
            <a:srgbClr val="E6F0FF"/>
          </a:solidFill>
          <a:ln/>
        </p:spPr>
      </p:sp>
      <p:sp>
        <p:nvSpPr>
          <p:cNvPr id="63" name="Text 60"/>
          <p:cNvSpPr/>
          <p:nvPr/>
        </p:nvSpPr>
        <p:spPr>
          <a:xfrm>
            <a:off x="4743450" y="3925491"/>
            <a:ext cx="401334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7FF"/>
                </a:solidFill>
              </a:rPr>
              <a:t>TR A1</a:t>
            </a:r>
            <a:endParaRPr lang="en-US" sz="784" dirty="0"/>
          </a:p>
        </p:txBody>
      </p:sp>
      <p:sp>
        <p:nvSpPr>
          <p:cNvPr id="64" name="Text 61"/>
          <p:cNvSpPr/>
          <p:nvPr/>
        </p:nvSpPr>
        <p:spPr>
          <a:xfrm>
            <a:off x="6893719" y="3823692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Vade</a:t>
            </a:r>
            <a:endParaRPr lang="en-US" sz="584" dirty="0"/>
          </a:p>
        </p:txBody>
      </p:sp>
      <p:sp>
        <p:nvSpPr>
          <p:cNvPr id="65" name="Text 62"/>
          <p:cNvSpPr/>
          <p:nvPr/>
        </p:nvSpPr>
        <p:spPr>
          <a:xfrm>
            <a:off x="6893719" y="3939778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190 Gün (Ort.)</a:t>
            </a:r>
            <a:endParaRPr lang="en-US" sz="784" dirty="0"/>
          </a:p>
        </p:txBody>
      </p:sp>
      <p:sp>
        <p:nvSpPr>
          <p:cNvPr id="66" name="Text 63"/>
          <p:cNvSpPr/>
          <p:nvPr/>
        </p:nvSpPr>
        <p:spPr>
          <a:xfrm>
            <a:off x="4743450" y="4180880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Getiri</a:t>
            </a:r>
            <a:endParaRPr lang="en-US" sz="584" dirty="0"/>
          </a:p>
        </p:txBody>
      </p:sp>
      <p:sp>
        <p:nvSpPr>
          <p:cNvPr id="67" name="Text 64"/>
          <p:cNvSpPr/>
          <p:nvPr/>
        </p:nvSpPr>
        <p:spPr>
          <a:xfrm>
            <a:off x="4743450" y="4296966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%54.68 (Basit)</a:t>
            </a:r>
            <a:endParaRPr lang="en-US" sz="784" dirty="0"/>
          </a:p>
        </p:txBody>
      </p:sp>
      <p:sp>
        <p:nvSpPr>
          <p:cNvPr id="68" name="Text 65"/>
          <p:cNvSpPr/>
          <p:nvPr/>
        </p:nvSpPr>
        <p:spPr>
          <a:xfrm>
            <a:off x="6893719" y="4180880"/>
            <a:ext cx="20645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Etki</a:t>
            </a:r>
            <a:endParaRPr lang="en-US" sz="584" dirty="0"/>
          </a:p>
        </p:txBody>
      </p:sp>
      <p:sp>
        <p:nvSpPr>
          <p:cNvPr id="69" name="Text 66"/>
          <p:cNvSpPr/>
          <p:nvPr/>
        </p:nvSpPr>
        <p:spPr>
          <a:xfrm>
            <a:off x="6893719" y="4296966"/>
            <a:ext cx="2064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860 Çiftçi</a:t>
            </a:r>
            <a:endParaRPr lang="en-US" sz="784" dirty="0"/>
          </a:p>
        </p:txBody>
      </p:sp>
      <p:sp>
        <p:nvSpPr>
          <p:cNvPr id="70" name="Shape 67"/>
          <p:cNvSpPr/>
          <p:nvPr/>
        </p:nvSpPr>
        <p:spPr>
          <a:xfrm>
            <a:off x="14288" y="4729163"/>
            <a:ext cx="9115425" cy="400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1" name="Shape 68"/>
          <p:cNvSpPr/>
          <p:nvPr/>
        </p:nvSpPr>
        <p:spPr>
          <a:xfrm>
            <a:off x="14288" y="4729163"/>
            <a:ext cx="9115425" cy="1428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8" y="4872038"/>
            <a:ext cx="114300" cy="114300"/>
          </a:xfrm>
          <a:prstGeom prst="rect">
            <a:avLst/>
          </a:prstGeom>
        </p:spPr>
      </p:pic>
      <p:sp>
        <p:nvSpPr>
          <p:cNvPr id="73" name="Text 69"/>
          <p:cNvSpPr/>
          <p:nvPr/>
        </p:nvSpPr>
        <p:spPr>
          <a:xfrm>
            <a:off x="521494" y="4851499"/>
            <a:ext cx="43113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Tüm ihraçlar PASHA Bank ve OMG Capital Advisors işbirliği ile gerçekleştirilmiştir.</a:t>
            </a:r>
            <a:endParaRPr lang="en-US" sz="83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0038" y="185738"/>
            <a:ext cx="357188" cy="357188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0038" y="18573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FF"/>
                </a:solidFill>
              </a:rPr>
              <a:t>13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871538" y="189309"/>
            <a:ext cx="355767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</a:rPr>
              <a:t>İletişim ve Aksiyon Planı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14288" y="728663"/>
            <a:ext cx="4221314" cy="39719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442913" y="1563784"/>
            <a:ext cx="33640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0047FF"/>
                </a:solidFill>
              </a:rPr>
              <a:t>E-Posta</a:t>
            </a:r>
            <a:endParaRPr lang="en-US" sz="727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1795955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8669" y="1751307"/>
            <a:ext cx="154282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info@talya.vc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442913" y="2331011"/>
            <a:ext cx="33640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0047FF"/>
                </a:solidFill>
              </a:rPr>
              <a:t>Telefon</a:t>
            </a:r>
            <a:endParaRPr lang="en-US" sz="727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2563183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8669" y="2518535"/>
            <a:ext cx="19376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+90 532 794 30 77</a:t>
            </a:r>
            <a:endParaRPr lang="en-US" sz="1602" dirty="0"/>
          </a:p>
        </p:txBody>
      </p:sp>
      <p:sp>
        <p:nvSpPr>
          <p:cNvPr id="13" name="Text 8"/>
          <p:cNvSpPr/>
          <p:nvPr/>
        </p:nvSpPr>
        <p:spPr>
          <a:xfrm>
            <a:off x="442913" y="3098239"/>
            <a:ext cx="33640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0047FF"/>
                </a:solidFill>
              </a:rPr>
              <a:t>Web</a:t>
            </a:r>
            <a:endParaRPr lang="en-US" sz="727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3" y="3330411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8669" y="3285762"/>
            <a:ext cx="25804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www.kolaymoney.com</a:t>
            </a:r>
            <a:endParaRPr lang="en-US" sz="1602" dirty="0"/>
          </a:p>
        </p:txBody>
      </p:sp>
      <p:sp>
        <p:nvSpPr>
          <p:cNvPr id="16" name="Shape 10"/>
          <p:cNvSpPr/>
          <p:nvPr/>
        </p:nvSpPr>
        <p:spPr>
          <a:xfrm>
            <a:off x="4235602" y="728663"/>
            <a:ext cx="4894111" cy="39719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1"/>
          <p:cNvSpPr/>
          <p:nvPr/>
        </p:nvSpPr>
        <p:spPr>
          <a:xfrm>
            <a:off x="4664227" y="1610916"/>
            <a:ext cx="4036861" cy="394692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Sonraki Adımlar</a:t>
            </a:r>
            <a:endParaRPr lang="en-US" sz="1397" dirty="0"/>
          </a:p>
        </p:txBody>
      </p:sp>
      <p:sp>
        <p:nvSpPr>
          <p:cNvPr id="18" name="Shape 12"/>
          <p:cNvSpPr/>
          <p:nvPr/>
        </p:nvSpPr>
        <p:spPr>
          <a:xfrm>
            <a:off x="4664227" y="2295823"/>
            <a:ext cx="357188" cy="357188"/>
          </a:xfrm>
          <a:prstGeom prst="rect">
            <a:avLst/>
          </a:prstGeom>
          <a:solidFill>
            <a:srgbClr val="0047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664227" y="229582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01</a:t>
            </a:r>
            <a:endParaRPr lang="en-US" sz="1193" dirty="0"/>
          </a:p>
        </p:txBody>
      </p:sp>
      <p:sp>
        <p:nvSpPr>
          <p:cNvPr id="20" name="Text 14"/>
          <p:cNvSpPr/>
          <p:nvPr/>
        </p:nvSpPr>
        <p:spPr>
          <a:xfrm>
            <a:off x="5164289" y="2291358"/>
            <a:ext cx="21787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NDA İmzalama</a:t>
            </a:r>
            <a:endParaRPr lang="en-US" sz="987" dirty="0"/>
          </a:p>
        </p:txBody>
      </p:sp>
      <p:sp>
        <p:nvSpPr>
          <p:cNvPr id="21" name="Text 15"/>
          <p:cNvSpPr/>
          <p:nvPr/>
        </p:nvSpPr>
        <p:spPr>
          <a:xfrm>
            <a:off x="5164289" y="2521744"/>
            <a:ext cx="2178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Taraflar arası gizlilik taahhüdünün sağlanması.</a:t>
            </a:r>
            <a:endParaRPr lang="en-US" sz="727" dirty="0"/>
          </a:p>
        </p:txBody>
      </p:sp>
      <p:sp>
        <p:nvSpPr>
          <p:cNvPr id="22" name="Shape 16"/>
          <p:cNvSpPr/>
          <p:nvPr/>
        </p:nvSpPr>
        <p:spPr>
          <a:xfrm>
            <a:off x="4664227" y="2876252"/>
            <a:ext cx="357188" cy="357188"/>
          </a:xfrm>
          <a:prstGeom prst="rect">
            <a:avLst/>
          </a:prstGeom>
          <a:solidFill>
            <a:srgbClr val="0047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664227" y="2876252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02</a:t>
            </a:r>
            <a:endParaRPr lang="en-US" sz="1193" dirty="0"/>
          </a:p>
        </p:txBody>
      </p:sp>
      <p:sp>
        <p:nvSpPr>
          <p:cNvPr id="24" name="Text 18"/>
          <p:cNvSpPr/>
          <p:nvPr/>
        </p:nvSpPr>
        <p:spPr>
          <a:xfrm>
            <a:off x="5164289" y="2871788"/>
            <a:ext cx="227670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Ortaklık Anlaşması</a:t>
            </a:r>
            <a:endParaRPr lang="en-US" sz="987" dirty="0"/>
          </a:p>
        </p:txBody>
      </p:sp>
      <p:sp>
        <p:nvSpPr>
          <p:cNvPr id="25" name="Text 19"/>
          <p:cNvSpPr/>
          <p:nvPr/>
        </p:nvSpPr>
        <p:spPr>
          <a:xfrm>
            <a:off x="5164289" y="3102173"/>
            <a:ext cx="22767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İşbirliği modelinin hukuki çerçeveye oturtulması.</a:t>
            </a:r>
            <a:endParaRPr lang="en-US" sz="727" dirty="0"/>
          </a:p>
        </p:txBody>
      </p:sp>
      <p:sp>
        <p:nvSpPr>
          <p:cNvPr id="26" name="Shape 20"/>
          <p:cNvSpPr/>
          <p:nvPr/>
        </p:nvSpPr>
        <p:spPr>
          <a:xfrm>
            <a:off x="4664227" y="3456682"/>
            <a:ext cx="357188" cy="357188"/>
          </a:xfrm>
          <a:prstGeom prst="rect">
            <a:avLst/>
          </a:prstGeom>
          <a:solidFill>
            <a:srgbClr val="0047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664227" y="3456682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03</a:t>
            </a:r>
            <a:endParaRPr lang="en-US" sz="1193" dirty="0"/>
          </a:p>
        </p:txBody>
      </p:sp>
      <p:sp>
        <p:nvSpPr>
          <p:cNvPr id="28" name="Text 22"/>
          <p:cNvSpPr/>
          <p:nvPr/>
        </p:nvSpPr>
        <p:spPr>
          <a:xfrm>
            <a:off x="5164289" y="3452217"/>
            <a:ext cx="25987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İlk Firma Onboarding</a:t>
            </a:r>
            <a:endParaRPr lang="en-US" sz="987" dirty="0"/>
          </a:p>
        </p:txBody>
      </p:sp>
      <p:sp>
        <p:nvSpPr>
          <p:cNvPr id="29" name="Text 23"/>
          <p:cNvSpPr/>
          <p:nvPr/>
        </p:nvSpPr>
        <p:spPr>
          <a:xfrm>
            <a:off x="5164289" y="3682603"/>
            <a:ext cx="25987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Pilot uygulama ile ilk müşterinin sisteme dahil edilmesi.</a:t>
            </a:r>
            <a:endParaRPr lang="en-US" sz="727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38" y="4864894"/>
            <a:ext cx="100013" cy="1143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7206" y="4844355"/>
            <a:ext cx="2338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Stratejik ortaklığımızı başlatmak için hazırız.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2026-02-09T16:38:03Z</dcterms:created>
  <dcterms:modified xsi:type="dcterms:W3CDTF">2026-02-09T16:38:03Z</dcterms:modified>
</cp:coreProperties>
</file>